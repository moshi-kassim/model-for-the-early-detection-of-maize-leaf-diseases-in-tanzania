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8"/>
  </p:notesMasterIdLst>
  <p:sldIdLst>
    <p:sldId id="268" r:id="rId2"/>
    <p:sldId id="278" r:id="rId3"/>
    <p:sldId id="279" r:id="rId4"/>
    <p:sldId id="269" r:id="rId5"/>
    <p:sldId id="270" r:id="rId6"/>
    <p:sldId id="271" r:id="rId7"/>
    <p:sldId id="272" r:id="rId8"/>
    <p:sldId id="280" r:id="rId9"/>
    <p:sldId id="281" r:id="rId10"/>
    <p:sldId id="282" r:id="rId11"/>
    <p:sldId id="273" r:id="rId12"/>
    <p:sldId id="274" r:id="rId13"/>
    <p:sldId id="283" r:id="rId14"/>
    <p:sldId id="275" r:id="rId15"/>
    <p:sldId id="276" r:id="rId16"/>
    <p:sldId id="27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5249" autoAdjust="0"/>
  </p:normalViewPr>
  <p:slideViewPr>
    <p:cSldViewPr snapToGrid="0">
      <p:cViewPr varScale="1">
        <p:scale>
          <a:sx n="60" d="100"/>
          <a:sy n="60" d="100"/>
        </p:scale>
        <p:origin x="78" y="8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svg"/></Relationships>
</file>

<file path=ppt/diagrams/_rels/data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svg"/></Relationships>
</file>

<file path=ppt/diagrams/_rels/drawing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svg"/></Relationships>
</file>

<file path=ppt/diagrams/_rels/drawing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E7DD74-78C9-4761-A832-443051DDA38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F8533B1-D232-4F69-B9B7-C4EFAC1D295A}">
      <dgm:prSet custT="1"/>
      <dgm:spPr/>
      <dgm:t>
        <a:bodyPr/>
        <a:lstStyle/>
        <a:p>
          <a:pPr algn="ctr">
            <a:lnSpc>
              <a:spcPct val="100000"/>
            </a:lnSpc>
            <a:defRPr cap="all"/>
          </a:pPr>
          <a:r>
            <a:rPr lang="en-US" sz="2000" b="1" strike="noStrike" dirty="0"/>
            <a:t>General</a:t>
          </a:r>
        </a:p>
        <a:p>
          <a:pPr algn="ctr">
            <a:lnSpc>
              <a:spcPct val="100000"/>
            </a:lnSpc>
            <a:defRPr cap="all"/>
          </a:pPr>
          <a:r>
            <a:rPr lang="en-US" sz="2000" b="1" strike="noStrike" dirty="0"/>
            <a:t> Objective</a:t>
          </a:r>
          <a:endParaRPr lang="en-US" sz="2000" strike="noStrike" dirty="0"/>
        </a:p>
      </dgm:t>
    </dgm:pt>
    <dgm:pt modelId="{56D8303F-2BE3-41B9-B240-5D37C1850187}" type="parTrans" cxnId="{DAA755E4-A0C5-4B3F-B8F4-DCBFBE1B82E3}">
      <dgm:prSet/>
      <dgm:spPr/>
      <dgm:t>
        <a:bodyPr/>
        <a:lstStyle/>
        <a:p>
          <a:pPr>
            <a:lnSpc>
              <a:spcPct val="100000"/>
            </a:lnSpc>
          </a:pPr>
          <a:endParaRPr lang="en-US" strike="noStrike"/>
        </a:p>
      </dgm:t>
    </dgm:pt>
    <dgm:pt modelId="{A5619BCF-1483-421A-971C-C54C5D678F61}" type="sibTrans" cxnId="{DAA755E4-A0C5-4B3F-B8F4-DCBFBE1B82E3}">
      <dgm:prSet/>
      <dgm:spPr/>
      <dgm:t>
        <a:bodyPr/>
        <a:lstStyle/>
        <a:p>
          <a:pPr>
            <a:lnSpc>
              <a:spcPct val="100000"/>
            </a:lnSpc>
          </a:pPr>
          <a:endParaRPr lang="en-US" strike="noStrike"/>
        </a:p>
      </dgm:t>
    </dgm:pt>
    <dgm:pt modelId="{04DF9AD8-A09F-466B-A08D-E023E38E9F16}">
      <dgm:prSet custT="1"/>
      <dgm:spPr/>
      <dgm:t>
        <a:bodyPr/>
        <a:lstStyle/>
        <a:p>
          <a:pPr algn="l">
            <a:lnSpc>
              <a:spcPct val="100000"/>
            </a:lnSpc>
            <a:defRPr cap="all"/>
          </a:pPr>
          <a:r>
            <a:rPr lang="en-US" sz="2000" strike="noStrike" dirty="0"/>
            <a:t>To develop a deep learning image classification model capable of automatically identifying and diagnosing common maize leaf diseases and deploy it in an interactive dashboard for real-time diagnosis.</a:t>
          </a:r>
        </a:p>
      </dgm:t>
    </dgm:pt>
    <dgm:pt modelId="{4CFDDDFA-B17A-46F3-AFAF-FD622A849795}" type="parTrans" cxnId="{ACE3B3C4-88C2-4637-8A9D-75A2402B6E77}">
      <dgm:prSet/>
      <dgm:spPr/>
      <dgm:t>
        <a:bodyPr/>
        <a:lstStyle/>
        <a:p>
          <a:pPr>
            <a:lnSpc>
              <a:spcPct val="100000"/>
            </a:lnSpc>
          </a:pPr>
          <a:endParaRPr lang="en-US" strike="noStrike"/>
        </a:p>
      </dgm:t>
    </dgm:pt>
    <dgm:pt modelId="{D4401E0B-4172-4EDD-A728-F958A61B6BBF}" type="sibTrans" cxnId="{ACE3B3C4-88C2-4637-8A9D-75A2402B6E77}">
      <dgm:prSet/>
      <dgm:spPr/>
      <dgm:t>
        <a:bodyPr/>
        <a:lstStyle/>
        <a:p>
          <a:pPr>
            <a:lnSpc>
              <a:spcPct val="100000"/>
            </a:lnSpc>
          </a:pPr>
          <a:endParaRPr lang="en-US" strike="noStrike"/>
        </a:p>
      </dgm:t>
    </dgm:pt>
    <dgm:pt modelId="{0348E4A8-B258-40B8-AA47-A4F6CE6B7CE8}" type="pres">
      <dgm:prSet presAssocID="{A3E7DD74-78C9-4761-A832-443051DDA387}" presName="root" presStyleCnt="0">
        <dgm:presLayoutVars>
          <dgm:dir/>
          <dgm:resizeHandles val="exact"/>
        </dgm:presLayoutVars>
      </dgm:prSet>
      <dgm:spPr/>
    </dgm:pt>
    <dgm:pt modelId="{516245DD-C72F-46B8-9F33-192ADD973F0A}" type="pres">
      <dgm:prSet presAssocID="{FF8533B1-D232-4F69-B9B7-C4EFAC1D295A}" presName="compNode" presStyleCnt="0"/>
      <dgm:spPr/>
    </dgm:pt>
    <dgm:pt modelId="{7D747293-2DF5-4EAC-AFCB-E6542E7A7A4B}" type="pres">
      <dgm:prSet presAssocID="{FF8533B1-D232-4F69-B9B7-C4EFAC1D295A}" presName="iconBgRect" presStyleLbl="bgShp" presStyleIdx="0" presStyleCnt="2" custLinFactNeighborX="-3216" custLinFactNeighborY="-10516"/>
      <dgm:spPr/>
    </dgm:pt>
    <dgm:pt modelId="{1CE432F3-A951-404D-99E1-3950DA100DD4}" type="pres">
      <dgm:prSet presAssocID="{FF8533B1-D232-4F69-B9B7-C4EFAC1D295A}" presName="iconRect" presStyleLbl="node1" presStyleIdx="0" presStyleCnt="2" custLinFactNeighborX="12875" custLinFactNeighborY="-2106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ullseye"/>
        </a:ext>
      </dgm:extLst>
    </dgm:pt>
    <dgm:pt modelId="{8DEFE542-16F0-4E63-AD6C-F6A7EEFE1386}" type="pres">
      <dgm:prSet presAssocID="{FF8533B1-D232-4F69-B9B7-C4EFAC1D295A}" presName="spaceRect" presStyleCnt="0"/>
      <dgm:spPr/>
    </dgm:pt>
    <dgm:pt modelId="{F7DAB424-1D35-44DB-B38B-FBBA9B79A3ED}" type="pres">
      <dgm:prSet presAssocID="{FF8533B1-D232-4F69-B9B7-C4EFAC1D295A}" presName="textRect" presStyleLbl="revTx" presStyleIdx="0" presStyleCnt="2" custLinFactNeighborX="-4584" custLinFactNeighborY="-28315">
        <dgm:presLayoutVars>
          <dgm:chMax val="1"/>
          <dgm:chPref val="1"/>
        </dgm:presLayoutVars>
      </dgm:prSet>
      <dgm:spPr/>
    </dgm:pt>
    <dgm:pt modelId="{072BB561-D918-4611-8C1C-F85C3876C429}" type="pres">
      <dgm:prSet presAssocID="{A5619BCF-1483-421A-971C-C54C5D678F61}" presName="sibTrans" presStyleCnt="0"/>
      <dgm:spPr/>
    </dgm:pt>
    <dgm:pt modelId="{08FF170E-CAD2-424D-96AA-D3E42176A274}" type="pres">
      <dgm:prSet presAssocID="{04DF9AD8-A09F-466B-A08D-E023E38E9F16}" presName="compNode" presStyleCnt="0"/>
      <dgm:spPr/>
    </dgm:pt>
    <dgm:pt modelId="{60AB5CB8-3E0F-44CD-9D6D-18A1A2EEE4EA}" type="pres">
      <dgm:prSet presAssocID="{04DF9AD8-A09F-466B-A08D-E023E38E9F16}" presName="iconBgRect" presStyleLbl="bgShp" presStyleIdx="1" presStyleCnt="2" custLinFactNeighborY="-15795"/>
      <dgm:spPr/>
    </dgm:pt>
    <dgm:pt modelId="{2552B6E1-B57F-4A24-810F-7BF01F647712}" type="pres">
      <dgm:prSet presAssocID="{04DF9AD8-A09F-466B-A08D-E023E38E9F16}"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croscope"/>
        </a:ext>
      </dgm:extLst>
    </dgm:pt>
    <dgm:pt modelId="{C25A017F-4AAB-41A9-9BF4-5C779A4833F9}" type="pres">
      <dgm:prSet presAssocID="{04DF9AD8-A09F-466B-A08D-E023E38E9F16}" presName="spaceRect" presStyleCnt="0"/>
      <dgm:spPr/>
    </dgm:pt>
    <dgm:pt modelId="{BE324893-0C25-41A8-8CE7-724AF7C8531A}" type="pres">
      <dgm:prSet presAssocID="{04DF9AD8-A09F-466B-A08D-E023E38E9F16}" presName="textRect" presStyleLbl="revTx" presStyleIdx="1" presStyleCnt="2" custScaleX="170357" custScaleY="117487" custLinFactNeighborX="3764" custLinFactNeighborY="-14451">
        <dgm:presLayoutVars>
          <dgm:chMax val="1"/>
          <dgm:chPref val="1"/>
        </dgm:presLayoutVars>
      </dgm:prSet>
      <dgm:spPr/>
    </dgm:pt>
  </dgm:ptLst>
  <dgm:cxnLst>
    <dgm:cxn modelId="{6CD4A99B-7232-42F4-97A6-45440CDADEE9}" type="presOf" srcId="{A3E7DD74-78C9-4761-A832-443051DDA387}" destId="{0348E4A8-B258-40B8-AA47-A4F6CE6B7CE8}" srcOrd="0" destOrd="0" presId="urn:microsoft.com/office/officeart/2018/5/layout/IconCircleLabelList"/>
    <dgm:cxn modelId="{ACE3B3C4-88C2-4637-8A9D-75A2402B6E77}" srcId="{A3E7DD74-78C9-4761-A832-443051DDA387}" destId="{04DF9AD8-A09F-466B-A08D-E023E38E9F16}" srcOrd="1" destOrd="0" parTransId="{4CFDDDFA-B17A-46F3-AFAF-FD622A849795}" sibTransId="{D4401E0B-4172-4EDD-A728-F958A61B6BBF}"/>
    <dgm:cxn modelId="{BD0EFCCA-19CB-4FD0-AB1B-BB0506EFBEFB}" type="presOf" srcId="{FF8533B1-D232-4F69-B9B7-C4EFAC1D295A}" destId="{F7DAB424-1D35-44DB-B38B-FBBA9B79A3ED}" srcOrd="0" destOrd="0" presId="urn:microsoft.com/office/officeart/2018/5/layout/IconCircleLabelList"/>
    <dgm:cxn modelId="{4934BAD7-9CB7-441F-8A46-781CA1D16257}" type="presOf" srcId="{04DF9AD8-A09F-466B-A08D-E023E38E9F16}" destId="{BE324893-0C25-41A8-8CE7-724AF7C8531A}" srcOrd="0" destOrd="0" presId="urn:microsoft.com/office/officeart/2018/5/layout/IconCircleLabelList"/>
    <dgm:cxn modelId="{DAA755E4-A0C5-4B3F-B8F4-DCBFBE1B82E3}" srcId="{A3E7DD74-78C9-4761-A832-443051DDA387}" destId="{FF8533B1-D232-4F69-B9B7-C4EFAC1D295A}" srcOrd="0" destOrd="0" parTransId="{56D8303F-2BE3-41B9-B240-5D37C1850187}" sibTransId="{A5619BCF-1483-421A-971C-C54C5D678F61}"/>
    <dgm:cxn modelId="{D186B9F2-1CE8-4971-9088-B64407C4F252}" type="presParOf" srcId="{0348E4A8-B258-40B8-AA47-A4F6CE6B7CE8}" destId="{516245DD-C72F-46B8-9F33-192ADD973F0A}" srcOrd="0" destOrd="0" presId="urn:microsoft.com/office/officeart/2018/5/layout/IconCircleLabelList"/>
    <dgm:cxn modelId="{0D9EA97A-FDAA-4BF2-9D09-28EF3DE547BF}" type="presParOf" srcId="{516245DD-C72F-46B8-9F33-192ADD973F0A}" destId="{7D747293-2DF5-4EAC-AFCB-E6542E7A7A4B}" srcOrd="0" destOrd="0" presId="urn:microsoft.com/office/officeart/2018/5/layout/IconCircleLabelList"/>
    <dgm:cxn modelId="{EAD306C9-321E-43B1-9948-2E5FC305B2C6}" type="presParOf" srcId="{516245DD-C72F-46B8-9F33-192ADD973F0A}" destId="{1CE432F3-A951-404D-99E1-3950DA100DD4}" srcOrd="1" destOrd="0" presId="urn:microsoft.com/office/officeart/2018/5/layout/IconCircleLabelList"/>
    <dgm:cxn modelId="{C0E1B442-C90B-4D4C-81D9-F1819BE44691}" type="presParOf" srcId="{516245DD-C72F-46B8-9F33-192ADD973F0A}" destId="{8DEFE542-16F0-4E63-AD6C-F6A7EEFE1386}" srcOrd="2" destOrd="0" presId="urn:microsoft.com/office/officeart/2018/5/layout/IconCircleLabelList"/>
    <dgm:cxn modelId="{08E54B19-AFF2-4ED3-8AB3-523A8B4EDA74}" type="presParOf" srcId="{516245DD-C72F-46B8-9F33-192ADD973F0A}" destId="{F7DAB424-1D35-44DB-B38B-FBBA9B79A3ED}" srcOrd="3" destOrd="0" presId="urn:microsoft.com/office/officeart/2018/5/layout/IconCircleLabelList"/>
    <dgm:cxn modelId="{342BD3E9-E709-45A2-82C7-97741DADB8C5}" type="presParOf" srcId="{0348E4A8-B258-40B8-AA47-A4F6CE6B7CE8}" destId="{072BB561-D918-4611-8C1C-F85C3876C429}" srcOrd="1" destOrd="0" presId="urn:microsoft.com/office/officeart/2018/5/layout/IconCircleLabelList"/>
    <dgm:cxn modelId="{3E35DDA9-F8FA-4199-B187-9B2E707F422A}" type="presParOf" srcId="{0348E4A8-B258-40B8-AA47-A4F6CE6B7CE8}" destId="{08FF170E-CAD2-424D-96AA-D3E42176A274}" srcOrd="2" destOrd="0" presId="urn:microsoft.com/office/officeart/2018/5/layout/IconCircleLabelList"/>
    <dgm:cxn modelId="{E97F7F0F-CD64-469F-B7A4-E2B7D6E1C0A0}" type="presParOf" srcId="{08FF170E-CAD2-424D-96AA-D3E42176A274}" destId="{60AB5CB8-3E0F-44CD-9D6D-18A1A2EEE4EA}" srcOrd="0" destOrd="0" presId="urn:microsoft.com/office/officeart/2018/5/layout/IconCircleLabelList"/>
    <dgm:cxn modelId="{6C668D73-24FB-4625-9670-06A7F17AEE95}" type="presParOf" srcId="{08FF170E-CAD2-424D-96AA-D3E42176A274}" destId="{2552B6E1-B57F-4A24-810F-7BF01F647712}" srcOrd="1" destOrd="0" presId="urn:microsoft.com/office/officeart/2018/5/layout/IconCircleLabelList"/>
    <dgm:cxn modelId="{FDDB246D-0C62-4B76-BD91-AFD701217F80}" type="presParOf" srcId="{08FF170E-CAD2-424D-96AA-D3E42176A274}" destId="{C25A017F-4AAB-41A9-9BF4-5C779A4833F9}" srcOrd="2" destOrd="0" presId="urn:microsoft.com/office/officeart/2018/5/layout/IconCircleLabelList"/>
    <dgm:cxn modelId="{96C945D3-0DCE-4DF9-87B9-AE6EE0F8F4EB}" type="presParOf" srcId="{08FF170E-CAD2-424D-96AA-D3E42176A274}" destId="{BE324893-0C25-41A8-8CE7-724AF7C8531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94EF0C-B6B6-4BF0-A47C-3C066658B600}"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55E3DD04-4F0C-410F-B264-57BA0099F296}">
      <dgm:prSet/>
      <dgm:spPr/>
      <dgm:t>
        <a:bodyPr/>
        <a:lstStyle/>
        <a:p>
          <a:r>
            <a:rPr lang="en-US" b="1" dirty="0"/>
            <a:t>Findings – Objective 3</a:t>
          </a:r>
          <a:endParaRPr lang="en-US" dirty="0"/>
        </a:p>
      </dgm:t>
    </dgm:pt>
    <dgm:pt modelId="{E896736D-D9AD-4188-9E08-8355A7778BA3}" type="parTrans" cxnId="{B015A89E-A996-4489-BD8D-4D1A8DF8DCE0}">
      <dgm:prSet/>
      <dgm:spPr/>
      <dgm:t>
        <a:bodyPr/>
        <a:lstStyle/>
        <a:p>
          <a:endParaRPr lang="en-US"/>
        </a:p>
      </dgm:t>
    </dgm:pt>
    <dgm:pt modelId="{8273AD6B-B007-42E7-B3F5-2DDA1C88ED60}" type="sibTrans" cxnId="{B015A89E-A996-4489-BD8D-4D1A8DF8DCE0}">
      <dgm:prSet/>
      <dgm:spPr/>
      <dgm:t>
        <a:bodyPr/>
        <a:lstStyle/>
        <a:p>
          <a:endParaRPr lang="en-US"/>
        </a:p>
      </dgm:t>
    </dgm:pt>
    <dgm:pt modelId="{1C99D16B-543F-4CC4-9AFA-E6AB25B9671A}">
      <dgm:prSet/>
      <dgm:spPr/>
      <dgm:t>
        <a:bodyPr/>
        <a:lstStyle/>
        <a:p>
          <a:r>
            <a:rPr lang="en-US" dirty="0"/>
            <a:t>• Custom CNN Accuracy: 92.37%</a:t>
          </a:r>
          <a:br>
            <a:rPr lang="en-US" dirty="0"/>
          </a:br>
          <a:r>
            <a:rPr lang="en-US" dirty="0"/>
            <a:t>• ResNet50 Accuracy: 77.42%</a:t>
          </a:r>
        </a:p>
        <a:p>
          <a:r>
            <a:rPr lang="en-US" dirty="0"/>
            <a:t>ResNet50 Lower than CNN</a:t>
          </a:r>
        </a:p>
        <a:p>
          <a:br>
            <a:rPr lang="en-US" dirty="0"/>
          </a:br>
          <a:r>
            <a:rPr lang="en-US" dirty="0"/>
            <a:t>• So Custom CNN achieved better predictive performance.</a:t>
          </a:r>
        </a:p>
      </dgm:t>
    </dgm:pt>
    <dgm:pt modelId="{4C394B35-E770-4D4E-AC4C-F92E1D1788C7}" type="parTrans" cxnId="{D1DA1E21-8B53-4754-9C29-398769C88E5D}">
      <dgm:prSet/>
      <dgm:spPr/>
      <dgm:t>
        <a:bodyPr/>
        <a:lstStyle/>
        <a:p>
          <a:endParaRPr lang="en-US"/>
        </a:p>
      </dgm:t>
    </dgm:pt>
    <dgm:pt modelId="{55210FF1-A055-4799-9D7E-B7E7C8D35D21}" type="sibTrans" cxnId="{D1DA1E21-8B53-4754-9C29-398769C88E5D}">
      <dgm:prSet/>
      <dgm:spPr/>
      <dgm:t>
        <a:bodyPr/>
        <a:lstStyle/>
        <a:p>
          <a:endParaRPr lang="en-US"/>
        </a:p>
      </dgm:t>
    </dgm:pt>
    <dgm:pt modelId="{174D1C23-670A-4D00-8140-188AC37A4C12}" type="pres">
      <dgm:prSet presAssocID="{5E94EF0C-B6B6-4BF0-A47C-3C066658B600}" presName="vert0" presStyleCnt="0">
        <dgm:presLayoutVars>
          <dgm:dir/>
          <dgm:animOne val="branch"/>
          <dgm:animLvl val="lvl"/>
        </dgm:presLayoutVars>
      </dgm:prSet>
      <dgm:spPr/>
    </dgm:pt>
    <dgm:pt modelId="{C72D2A47-2456-4F17-82E8-6CCC363751A7}" type="pres">
      <dgm:prSet presAssocID="{55E3DD04-4F0C-410F-B264-57BA0099F296}" presName="thickLine" presStyleLbl="alignNode1" presStyleIdx="0" presStyleCnt="2"/>
      <dgm:spPr/>
    </dgm:pt>
    <dgm:pt modelId="{E5B2DF17-A91F-4D53-A333-2CC7209256EA}" type="pres">
      <dgm:prSet presAssocID="{55E3DD04-4F0C-410F-B264-57BA0099F296}" presName="horz1" presStyleCnt="0"/>
      <dgm:spPr/>
    </dgm:pt>
    <dgm:pt modelId="{E5C2F956-4C03-428B-A8F2-32EB7447B075}" type="pres">
      <dgm:prSet presAssocID="{55E3DD04-4F0C-410F-B264-57BA0099F296}" presName="tx1" presStyleLbl="revTx" presStyleIdx="0" presStyleCnt="2"/>
      <dgm:spPr/>
    </dgm:pt>
    <dgm:pt modelId="{A1AD9192-11C9-46F5-997C-687C4DB138F4}" type="pres">
      <dgm:prSet presAssocID="{55E3DD04-4F0C-410F-B264-57BA0099F296}" presName="vert1" presStyleCnt="0"/>
      <dgm:spPr/>
    </dgm:pt>
    <dgm:pt modelId="{C82814F5-0DD0-4937-A8C4-636D5C5689D7}" type="pres">
      <dgm:prSet presAssocID="{1C99D16B-543F-4CC4-9AFA-E6AB25B9671A}" presName="thickLine" presStyleLbl="alignNode1" presStyleIdx="1" presStyleCnt="2" custLinFactNeighborX="-2024" custLinFactNeighborY="-32990"/>
      <dgm:spPr/>
    </dgm:pt>
    <dgm:pt modelId="{89397340-D069-4F3A-80C8-85D10DCE3382}" type="pres">
      <dgm:prSet presAssocID="{1C99D16B-543F-4CC4-9AFA-E6AB25B9671A}" presName="horz1" presStyleCnt="0"/>
      <dgm:spPr/>
    </dgm:pt>
    <dgm:pt modelId="{E4CEF63D-EFEA-4DE0-89BA-86F3EB0D9B67}" type="pres">
      <dgm:prSet presAssocID="{1C99D16B-543F-4CC4-9AFA-E6AB25B9671A}" presName="tx1" presStyleLbl="revTx" presStyleIdx="1" presStyleCnt="2" custLinFactNeighborX="-18732" custLinFactNeighborY="49334"/>
      <dgm:spPr/>
    </dgm:pt>
    <dgm:pt modelId="{F79C952C-0EBC-4503-8F09-3BD201B0D96B}" type="pres">
      <dgm:prSet presAssocID="{1C99D16B-543F-4CC4-9AFA-E6AB25B9671A}" presName="vert1" presStyleCnt="0"/>
      <dgm:spPr/>
    </dgm:pt>
  </dgm:ptLst>
  <dgm:cxnLst>
    <dgm:cxn modelId="{D1DA1E21-8B53-4754-9C29-398769C88E5D}" srcId="{5E94EF0C-B6B6-4BF0-A47C-3C066658B600}" destId="{1C99D16B-543F-4CC4-9AFA-E6AB25B9671A}" srcOrd="1" destOrd="0" parTransId="{4C394B35-E770-4D4E-AC4C-F92E1D1788C7}" sibTransId="{55210FF1-A055-4799-9D7E-B7E7C8D35D21}"/>
    <dgm:cxn modelId="{32BA496E-9FE5-4CCC-B986-DE780A0AF983}" type="presOf" srcId="{1C99D16B-543F-4CC4-9AFA-E6AB25B9671A}" destId="{E4CEF63D-EFEA-4DE0-89BA-86F3EB0D9B67}" srcOrd="0" destOrd="0" presId="urn:microsoft.com/office/officeart/2008/layout/LinedList"/>
    <dgm:cxn modelId="{90AEE577-E9C6-43BB-97F0-D278388C4E8B}" type="presOf" srcId="{55E3DD04-4F0C-410F-B264-57BA0099F296}" destId="{E5C2F956-4C03-428B-A8F2-32EB7447B075}" srcOrd="0" destOrd="0" presId="urn:microsoft.com/office/officeart/2008/layout/LinedList"/>
    <dgm:cxn modelId="{B015A89E-A996-4489-BD8D-4D1A8DF8DCE0}" srcId="{5E94EF0C-B6B6-4BF0-A47C-3C066658B600}" destId="{55E3DD04-4F0C-410F-B264-57BA0099F296}" srcOrd="0" destOrd="0" parTransId="{E896736D-D9AD-4188-9E08-8355A7778BA3}" sibTransId="{8273AD6B-B007-42E7-B3F5-2DDA1C88ED60}"/>
    <dgm:cxn modelId="{AF1011A5-64FB-4D7B-B6B4-74ABBC3A8D1F}" type="presOf" srcId="{5E94EF0C-B6B6-4BF0-A47C-3C066658B600}" destId="{174D1C23-670A-4D00-8140-188AC37A4C12}" srcOrd="0" destOrd="0" presId="urn:microsoft.com/office/officeart/2008/layout/LinedList"/>
    <dgm:cxn modelId="{88382DE0-DF98-49DA-B982-57CC4CC9CDC0}" type="presParOf" srcId="{174D1C23-670A-4D00-8140-188AC37A4C12}" destId="{C72D2A47-2456-4F17-82E8-6CCC363751A7}" srcOrd="0" destOrd="0" presId="urn:microsoft.com/office/officeart/2008/layout/LinedList"/>
    <dgm:cxn modelId="{1CEA9DBD-9F37-4067-BC97-E44A0D953D67}" type="presParOf" srcId="{174D1C23-670A-4D00-8140-188AC37A4C12}" destId="{E5B2DF17-A91F-4D53-A333-2CC7209256EA}" srcOrd="1" destOrd="0" presId="urn:microsoft.com/office/officeart/2008/layout/LinedList"/>
    <dgm:cxn modelId="{6233C08E-0AC9-49B7-8797-99608878B886}" type="presParOf" srcId="{E5B2DF17-A91F-4D53-A333-2CC7209256EA}" destId="{E5C2F956-4C03-428B-A8F2-32EB7447B075}" srcOrd="0" destOrd="0" presId="urn:microsoft.com/office/officeart/2008/layout/LinedList"/>
    <dgm:cxn modelId="{B00CE17A-DC3E-4163-977B-DAFC4455B6B9}" type="presParOf" srcId="{E5B2DF17-A91F-4D53-A333-2CC7209256EA}" destId="{A1AD9192-11C9-46F5-997C-687C4DB138F4}" srcOrd="1" destOrd="0" presId="urn:microsoft.com/office/officeart/2008/layout/LinedList"/>
    <dgm:cxn modelId="{3CAFE1E3-AB3C-4A14-8032-2147ECFCDE7F}" type="presParOf" srcId="{174D1C23-670A-4D00-8140-188AC37A4C12}" destId="{C82814F5-0DD0-4937-A8C4-636D5C5689D7}" srcOrd="2" destOrd="0" presId="urn:microsoft.com/office/officeart/2008/layout/LinedList"/>
    <dgm:cxn modelId="{FE0E64C4-3794-4558-A540-FDF7057AFB72}" type="presParOf" srcId="{174D1C23-670A-4D00-8140-188AC37A4C12}" destId="{89397340-D069-4F3A-80C8-85D10DCE3382}" srcOrd="3" destOrd="0" presId="urn:microsoft.com/office/officeart/2008/layout/LinedList"/>
    <dgm:cxn modelId="{A95D5FE0-4D63-444E-9118-685DB9D5185F}" type="presParOf" srcId="{89397340-D069-4F3A-80C8-85D10DCE3382}" destId="{E4CEF63D-EFEA-4DE0-89BA-86F3EB0D9B67}" srcOrd="0" destOrd="0" presId="urn:microsoft.com/office/officeart/2008/layout/LinedList"/>
    <dgm:cxn modelId="{A6460798-5B39-4290-9727-45CA1EEB352B}" type="presParOf" srcId="{89397340-D069-4F3A-80C8-85D10DCE3382}" destId="{F79C952C-0EBC-4503-8F09-3BD201B0D96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7A9CB9-8673-4D06-90B2-7C5D6D2B8D5B}" type="doc">
      <dgm:prSet loTypeId="urn:microsoft.com/office/officeart/2005/8/layout/cycle2" loCatId="cycle" qsTypeId="urn:microsoft.com/office/officeart/2005/8/quickstyle/simple1" qsCatId="simple" csTypeId="urn:microsoft.com/office/officeart/2005/8/colors/colorful1" csCatId="colorful"/>
      <dgm:spPr/>
      <dgm:t>
        <a:bodyPr/>
        <a:lstStyle/>
        <a:p>
          <a:endParaRPr lang="en-US"/>
        </a:p>
      </dgm:t>
    </dgm:pt>
    <dgm:pt modelId="{83D02310-0E18-4AE4-88D9-9C19D9074FFA}">
      <dgm:prSet/>
      <dgm:spPr/>
      <dgm:t>
        <a:bodyPr/>
        <a:lstStyle/>
        <a:p>
          <a:r>
            <a:rPr lang="en-US" b="1" dirty="0">
              <a:solidFill>
                <a:schemeClr val="tx1"/>
              </a:solidFill>
            </a:rPr>
            <a:t>Findings – Objective 4</a:t>
          </a:r>
          <a:endParaRPr lang="en-US" dirty="0">
            <a:solidFill>
              <a:schemeClr val="tx1"/>
            </a:solidFill>
          </a:endParaRPr>
        </a:p>
      </dgm:t>
    </dgm:pt>
    <dgm:pt modelId="{7C8403F4-ACD8-4CD2-A001-C0A685F415D0}" type="parTrans" cxnId="{E9541A6C-F23D-4D9F-96DF-7200C5B48554}">
      <dgm:prSet/>
      <dgm:spPr/>
      <dgm:t>
        <a:bodyPr/>
        <a:lstStyle/>
        <a:p>
          <a:endParaRPr lang="en-US"/>
        </a:p>
      </dgm:t>
    </dgm:pt>
    <dgm:pt modelId="{6F6C6E1F-4BC4-4516-8B45-919CC233A8B6}" type="sibTrans" cxnId="{E9541A6C-F23D-4D9F-96DF-7200C5B48554}">
      <dgm:prSet/>
      <dgm:spPr/>
      <dgm:t>
        <a:bodyPr/>
        <a:lstStyle/>
        <a:p>
          <a:endParaRPr lang="en-US"/>
        </a:p>
      </dgm:t>
    </dgm:pt>
    <dgm:pt modelId="{39233EE3-2874-4DD2-A82B-0E784F22C921}">
      <dgm:prSet/>
      <dgm:spPr/>
      <dgm:t>
        <a:bodyPr/>
        <a:lstStyle/>
        <a:p>
          <a:r>
            <a:rPr lang="en-US" dirty="0">
              <a:solidFill>
                <a:schemeClr val="tx1"/>
              </a:solidFill>
            </a:rPr>
            <a:t>• Developed a </a:t>
          </a:r>
          <a:r>
            <a:rPr lang="en-US" dirty="0" err="1">
              <a:solidFill>
                <a:schemeClr val="tx1"/>
              </a:solidFill>
            </a:rPr>
            <a:t>Streamlit</a:t>
          </a:r>
          <a:r>
            <a:rPr lang="en-US" dirty="0">
              <a:solidFill>
                <a:schemeClr val="tx1"/>
              </a:solidFill>
            </a:rPr>
            <a:t> dashboard.</a:t>
          </a:r>
          <a:br>
            <a:rPr lang="en-US" dirty="0">
              <a:solidFill>
                <a:schemeClr val="tx1"/>
              </a:solidFill>
            </a:rPr>
          </a:br>
          <a:r>
            <a:rPr lang="en-US" dirty="0">
              <a:solidFill>
                <a:schemeClr val="tx1"/>
              </a:solidFill>
            </a:rPr>
            <a:t>• Upload maize leaf image.</a:t>
          </a:r>
          <a:br>
            <a:rPr lang="en-US" dirty="0">
              <a:solidFill>
                <a:schemeClr val="tx1"/>
              </a:solidFill>
            </a:rPr>
          </a:br>
          <a:r>
            <a:rPr lang="en-US" dirty="0">
              <a:solidFill>
                <a:schemeClr val="tx1"/>
              </a:solidFill>
            </a:rPr>
            <a:t>• Automatic disease prediction.</a:t>
          </a:r>
          <a:br>
            <a:rPr lang="en-US" dirty="0">
              <a:solidFill>
                <a:schemeClr val="tx1"/>
              </a:solidFill>
            </a:rPr>
          </a:br>
          <a:r>
            <a:rPr lang="en-US" dirty="0">
              <a:solidFill>
                <a:schemeClr val="tx1"/>
              </a:solidFill>
            </a:rPr>
            <a:t>• Confidence score and management advice.</a:t>
          </a:r>
          <a:br>
            <a:rPr lang="en-US" dirty="0">
              <a:solidFill>
                <a:schemeClr val="tx1"/>
              </a:solidFill>
            </a:rPr>
          </a:br>
          <a:r>
            <a:rPr lang="en-US" dirty="0">
              <a:solidFill>
                <a:schemeClr val="tx1"/>
              </a:solidFill>
            </a:rPr>
            <a:t>• Rejects non-maize images.</a:t>
          </a:r>
        </a:p>
      </dgm:t>
    </dgm:pt>
    <dgm:pt modelId="{5EDCB9A9-765A-46C9-BA32-FBC91DEC2E91}" type="parTrans" cxnId="{AF160EA9-58E5-4BD9-B332-5FB50D99FA24}">
      <dgm:prSet/>
      <dgm:spPr/>
      <dgm:t>
        <a:bodyPr/>
        <a:lstStyle/>
        <a:p>
          <a:endParaRPr lang="en-US"/>
        </a:p>
      </dgm:t>
    </dgm:pt>
    <dgm:pt modelId="{BD2F51E5-A883-44AB-9F08-1E1FAC7C1F9C}" type="sibTrans" cxnId="{AF160EA9-58E5-4BD9-B332-5FB50D99FA24}">
      <dgm:prSet/>
      <dgm:spPr/>
      <dgm:t>
        <a:bodyPr/>
        <a:lstStyle/>
        <a:p>
          <a:endParaRPr lang="en-US"/>
        </a:p>
      </dgm:t>
    </dgm:pt>
    <dgm:pt modelId="{35B77D57-5B09-40B0-ABCB-640B0A1FB8BF}" type="pres">
      <dgm:prSet presAssocID="{DB7A9CB9-8673-4D06-90B2-7C5D6D2B8D5B}" presName="cycle" presStyleCnt="0">
        <dgm:presLayoutVars>
          <dgm:dir/>
          <dgm:resizeHandles val="exact"/>
        </dgm:presLayoutVars>
      </dgm:prSet>
      <dgm:spPr/>
    </dgm:pt>
    <dgm:pt modelId="{C92484BD-E64F-42FB-A8FE-26C153DD3CF6}" type="pres">
      <dgm:prSet presAssocID="{83D02310-0E18-4AE4-88D9-9C19D9074FFA}" presName="node" presStyleLbl="node1" presStyleIdx="0" presStyleCnt="2" custRadScaleRad="100387" custRadScaleInc="5309">
        <dgm:presLayoutVars>
          <dgm:bulletEnabled val="1"/>
        </dgm:presLayoutVars>
      </dgm:prSet>
      <dgm:spPr/>
    </dgm:pt>
    <dgm:pt modelId="{453A9F37-112A-49BC-AD20-7EE4B1B61EF9}" type="pres">
      <dgm:prSet presAssocID="{6F6C6E1F-4BC4-4516-8B45-919CC233A8B6}" presName="sibTrans" presStyleLbl="sibTrans2D1" presStyleIdx="0" presStyleCnt="2"/>
      <dgm:spPr/>
    </dgm:pt>
    <dgm:pt modelId="{28631637-FB2D-4620-81EB-9FB1B9EF69AA}" type="pres">
      <dgm:prSet presAssocID="{6F6C6E1F-4BC4-4516-8B45-919CC233A8B6}" presName="connectorText" presStyleLbl="sibTrans2D1" presStyleIdx="0" presStyleCnt="2"/>
      <dgm:spPr/>
    </dgm:pt>
    <dgm:pt modelId="{9CDE7814-BBBD-41E9-B660-5B733FC5CB6A}" type="pres">
      <dgm:prSet presAssocID="{39233EE3-2874-4DD2-A82B-0E784F22C921}" presName="node" presStyleLbl="node1" presStyleIdx="1" presStyleCnt="2">
        <dgm:presLayoutVars>
          <dgm:bulletEnabled val="1"/>
        </dgm:presLayoutVars>
      </dgm:prSet>
      <dgm:spPr/>
    </dgm:pt>
    <dgm:pt modelId="{12B38CEE-66FA-4D16-BE79-6F45150E08F6}" type="pres">
      <dgm:prSet presAssocID="{BD2F51E5-A883-44AB-9F08-1E1FAC7C1F9C}" presName="sibTrans" presStyleLbl="sibTrans2D1" presStyleIdx="1" presStyleCnt="2"/>
      <dgm:spPr/>
    </dgm:pt>
    <dgm:pt modelId="{05AF8A98-D59D-4877-AFC2-57F03BBE1193}" type="pres">
      <dgm:prSet presAssocID="{BD2F51E5-A883-44AB-9F08-1E1FAC7C1F9C}" presName="connectorText" presStyleLbl="sibTrans2D1" presStyleIdx="1" presStyleCnt="2"/>
      <dgm:spPr/>
    </dgm:pt>
  </dgm:ptLst>
  <dgm:cxnLst>
    <dgm:cxn modelId="{9D5B491A-0BA7-4291-BA3B-3D33B6B03352}" type="presOf" srcId="{BD2F51E5-A883-44AB-9F08-1E1FAC7C1F9C}" destId="{05AF8A98-D59D-4877-AFC2-57F03BBE1193}" srcOrd="1" destOrd="0" presId="urn:microsoft.com/office/officeart/2005/8/layout/cycle2"/>
    <dgm:cxn modelId="{B1A7B535-8CF1-4E94-9212-5C2D2EE5A254}" type="presOf" srcId="{BD2F51E5-A883-44AB-9F08-1E1FAC7C1F9C}" destId="{12B38CEE-66FA-4D16-BE79-6F45150E08F6}" srcOrd="0" destOrd="0" presId="urn:microsoft.com/office/officeart/2005/8/layout/cycle2"/>
    <dgm:cxn modelId="{E9541A6C-F23D-4D9F-96DF-7200C5B48554}" srcId="{DB7A9CB9-8673-4D06-90B2-7C5D6D2B8D5B}" destId="{83D02310-0E18-4AE4-88D9-9C19D9074FFA}" srcOrd="0" destOrd="0" parTransId="{7C8403F4-ACD8-4CD2-A001-C0A685F415D0}" sibTransId="{6F6C6E1F-4BC4-4516-8B45-919CC233A8B6}"/>
    <dgm:cxn modelId="{2B712E87-E0D6-40D0-8DC4-118BC9F517F4}" type="presOf" srcId="{6F6C6E1F-4BC4-4516-8B45-919CC233A8B6}" destId="{453A9F37-112A-49BC-AD20-7EE4B1B61EF9}" srcOrd="0" destOrd="0" presId="urn:microsoft.com/office/officeart/2005/8/layout/cycle2"/>
    <dgm:cxn modelId="{9435F18F-7FA1-4B7B-AD6C-0A3E19200575}" type="presOf" srcId="{83D02310-0E18-4AE4-88D9-9C19D9074FFA}" destId="{C92484BD-E64F-42FB-A8FE-26C153DD3CF6}" srcOrd="0" destOrd="0" presId="urn:microsoft.com/office/officeart/2005/8/layout/cycle2"/>
    <dgm:cxn modelId="{4FCFDBA4-54FD-4C96-9BB7-1BD3186B9321}" type="presOf" srcId="{6F6C6E1F-4BC4-4516-8B45-919CC233A8B6}" destId="{28631637-FB2D-4620-81EB-9FB1B9EF69AA}" srcOrd="1" destOrd="0" presId="urn:microsoft.com/office/officeart/2005/8/layout/cycle2"/>
    <dgm:cxn modelId="{BC6EB2A6-382E-4BDA-B33A-39C2C090FB43}" type="presOf" srcId="{DB7A9CB9-8673-4D06-90B2-7C5D6D2B8D5B}" destId="{35B77D57-5B09-40B0-ABCB-640B0A1FB8BF}" srcOrd="0" destOrd="0" presId="urn:microsoft.com/office/officeart/2005/8/layout/cycle2"/>
    <dgm:cxn modelId="{AF160EA9-58E5-4BD9-B332-5FB50D99FA24}" srcId="{DB7A9CB9-8673-4D06-90B2-7C5D6D2B8D5B}" destId="{39233EE3-2874-4DD2-A82B-0E784F22C921}" srcOrd="1" destOrd="0" parTransId="{5EDCB9A9-765A-46C9-BA32-FBC91DEC2E91}" sibTransId="{BD2F51E5-A883-44AB-9F08-1E1FAC7C1F9C}"/>
    <dgm:cxn modelId="{6A6136DA-0DEB-4F0D-93C8-18B637F714A6}" type="presOf" srcId="{39233EE3-2874-4DD2-A82B-0E784F22C921}" destId="{9CDE7814-BBBD-41E9-B660-5B733FC5CB6A}" srcOrd="0" destOrd="0" presId="urn:microsoft.com/office/officeart/2005/8/layout/cycle2"/>
    <dgm:cxn modelId="{54B246B3-4E70-4071-B7FF-BFCBC0F3BBB2}" type="presParOf" srcId="{35B77D57-5B09-40B0-ABCB-640B0A1FB8BF}" destId="{C92484BD-E64F-42FB-A8FE-26C153DD3CF6}" srcOrd="0" destOrd="0" presId="urn:microsoft.com/office/officeart/2005/8/layout/cycle2"/>
    <dgm:cxn modelId="{CB21079C-BEE2-490F-85B6-E13BD5C9825C}" type="presParOf" srcId="{35B77D57-5B09-40B0-ABCB-640B0A1FB8BF}" destId="{453A9F37-112A-49BC-AD20-7EE4B1B61EF9}" srcOrd="1" destOrd="0" presId="urn:microsoft.com/office/officeart/2005/8/layout/cycle2"/>
    <dgm:cxn modelId="{1F23F929-FE40-4C0D-99DA-02E4CA3953FC}" type="presParOf" srcId="{453A9F37-112A-49BC-AD20-7EE4B1B61EF9}" destId="{28631637-FB2D-4620-81EB-9FB1B9EF69AA}" srcOrd="0" destOrd="0" presId="urn:microsoft.com/office/officeart/2005/8/layout/cycle2"/>
    <dgm:cxn modelId="{0FA4D939-2B50-40C4-85B4-2F206020722D}" type="presParOf" srcId="{35B77D57-5B09-40B0-ABCB-640B0A1FB8BF}" destId="{9CDE7814-BBBD-41E9-B660-5B733FC5CB6A}" srcOrd="2" destOrd="0" presId="urn:microsoft.com/office/officeart/2005/8/layout/cycle2"/>
    <dgm:cxn modelId="{D1E5CB97-138F-4F2F-82E4-6F6046D318A9}" type="presParOf" srcId="{35B77D57-5B09-40B0-ABCB-640B0A1FB8BF}" destId="{12B38CEE-66FA-4D16-BE79-6F45150E08F6}" srcOrd="3" destOrd="0" presId="urn:microsoft.com/office/officeart/2005/8/layout/cycle2"/>
    <dgm:cxn modelId="{488DF448-EFE6-490A-AFC1-6D7E4F0E5C53}" type="presParOf" srcId="{12B38CEE-66FA-4D16-BE79-6F45150E08F6}" destId="{05AF8A98-D59D-4877-AFC2-57F03BBE119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A9AD35-60C0-43C4-B394-A1D763F91DE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4B5F503-A9CF-4772-B152-ED8868469B61}">
      <dgm:prSet custT="1"/>
      <dgm:spPr/>
      <dgm:t>
        <a:bodyPr/>
        <a:lstStyle/>
        <a:p>
          <a:r>
            <a:rPr lang="en-US" sz="2800" b="1" u="sng" dirty="0"/>
            <a:t>Conclusion</a:t>
          </a:r>
          <a:endParaRPr lang="en-US" sz="2800" u="sng" dirty="0"/>
        </a:p>
      </dgm:t>
    </dgm:pt>
    <dgm:pt modelId="{5F43F0CB-6663-4864-A4A5-122AC36CEE56}" type="parTrans" cxnId="{B223CB4A-5BE0-4AC5-891F-DFEE8E5E3720}">
      <dgm:prSet/>
      <dgm:spPr/>
      <dgm:t>
        <a:bodyPr/>
        <a:lstStyle/>
        <a:p>
          <a:endParaRPr lang="en-US"/>
        </a:p>
      </dgm:t>
    </dgm:pt>
    <dgm:pt modelId="{82A86A33-7E10-44A4-AD9B-63BD87687D13}" type="sibTrans" cxnId="{B223CB4A-5BE0-4AC5-891F-DFEE8E5E3720}">
      <dgm:prSet/>
      <dgm:spPr/>
      <dgm:t>
        <a:bodyPr/>
        <a:lstStyle/>
        <a:p>
          <a:endParaRPr lang="en-US"/>
        </a:p>
      </dgm:t>
    </dgm:pt>
    <dgm:pt modelId="{37F58444-5DD2-4A02-9BB6-7083B6AAAEA2}">
      <dgm:prSet custT="1"/>
      <dgm:spPr/>
      <dgm:t>
        <a:bodyPr/>
        <a:lstStyle/>
        <a:p>
          <a:pPr>
            <a:buNone/>
          </a:pPr>
          <a:r>
            <a:rPr lang="en-US" sz="2600" dirty="0"/>
            <a:t>A deep learning model for maize disease detection was successfully developed.</a:t>
          </a:r>
          <a:endParaRPr lang="en-TZ" sz="2600" dirty="0"/>
        </a:p>
        <a:p>
          <a:pPr>
            <a:buNone/>
          </a:pPr>
          <a:r>
            <a:rPr lang="en-US" sz="2600" dirty="0"/>
            <a:t>The model achieved approximately 92.4% accuracy.</a:t>
          </a:r>
          <a:endParaRPr lang="en-TZ" sz="2600" dirty="0"/>
        </a:p>
        <a:p>
          <a:pPr>
            <a:buNone/>
          </a:pPr>
          <a:r>
            <a:rPr lang="en-US" sz="2600" dirty="0"/>
            <a:t>The system can automatically identify maize diseases from leaf images.</a:t>
          </a:r>
          <a:endParaRPr lang="en-TZ" sz="2600" dirty="0"/>
        </a:p>
        <a:p>
          <a:pPr>
            <a:buNone/>
          </a:pPr>
          <a:r>
            <a:rPr lang="en-US" sz="2600" dirty="0"/>
            <a:t>The dashboard provides real-time diagnosis and confidence scores.</a:t>
          </a:r>
          <a:endParaRPr lang="en-TZ" sz="2600" dirty="0"/>
        </a:p>
        <a:p>
          <a:pPr>
            <a:buNone/>
          </a:pPr>
          <a:r>
            <a:rPr lang="en-US" sz="2600" dirty="0"/>
            <a:t>The project demonstrates the potential of AI in supporting Tanzanian agriculture.</a:t>
          </a:r>
        </a:p>
      </dgm:t>
    </dgm:pt>
    <dgm:pt modelId="{A73DDE23-D439-4412-B592-6D64811C4B2F}" type="parTrans" cxnId="{526C419F-6855-49FF-82C2-D8711819327A}">
      <dgm:prSet/>
      <dgm:spPr/>
      <dgm:t>
        <a:bodyPr/>
        <a:lstStyle/>
        <a:p>
          <a:endParaRPr lang="en-US"/>
        </a:p>
      </dgm:t>
    </dgm:pt>
    <dgm:pt modelId="{AC6B8E9F-7B55-4C2E-A32D-2EFDCB4A59E0}" type="sibTrans" cxnId="{526C419F-6855-49FF-82C2-D8711819327A}">
      <dgm:prSet/>
      <dgm:spPr/>
      <dgm:t>
        <a:bodyPr/>
        <a:lstStyle/>
        <a:p>
          <a:endParaRPr lang="en-US"/>
        </a:p>
      </dgm:t>
    </dgm:pt>
    <dgm:pt modelId="{E1C74E34-69DB-45A3-AD78-433671C0CF5D}" type="pres">
      <dgm:prSet presAssocID="{D9A9AD35-60C0-43C4-B394-A1D763F91DE5}" presName="root" presStyleCnt="0">
        <dgm:presLayoutVars>
          <dgm:dir/>
          <dgm:resizeHandles val="exact"/>
        </dgm:presLayoutVars>
      </dgm:prSet>
      <dgm:spPr/>
    </dgm:pt>
    <dgm:pt modelId="{A0CE31D3-778B-4E37-9CD1-C49A60217D44}" type="pres">
      <dgm:prSet presAssocID="{94B5F503-A9CF-4772-B152-ED8868469B61}" presName="compNode" presStyleCnt="0"/>
      <dgm:spPr/>
    </dgm:pt>
    <dgm:pt modelId="{499CA153-0D48-4D45-A4B2-E4059539AD2C}" type="pres">
      <dgm:prSet presAssocID="{94B5F503-A9CF-4772-B152-ED8868469B61}" presName="bgRect" presStyleLbl="bgShp" presStyleIdx="0" presStyleCnt="2" custLinFactNeighborX="5299" custLinFactNeighborY="5084"/>
      <dgm:spPr/>
    </dgm:pt>
    <dgm:pt modelId="{7559F3A0-697A-4EEF-B537-A2D9C9FAAFDA}" type="pres">
      <dgm:prSet presAssocID="{94B5F503-A9CF-4772-B152-ED8868469B61}" presName="iconRect" presStyleLbl="node1" presStyleIdx="0" presStyleCnt="2" custLinFactX="129051" custLinFactNeighborX="200000" custLinFactNeighborY="-822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avel"/>
        </a:ext>
      </dgm:extLst>
    </dgm:pt>
    <dgm:pt modelId="{A53C0A9C-57F6-41AA-AF25-A434C6C08100}" type="pres">
      <dgm:prSet presAssocID="{94B5F503-A9CF-4772-B152-ED8868469B61}" presName="spaceRect" presStyleCnt="0"/>
      <dgm:spPr/>
    </dgm:pt>
    <dgm:pt modelId="{35A17FD0-D39A-40E0-89BE-95AE4E3729B2}" type="pres">
      <dgm:prSet presAssocID="{94B5F503-A9CF-4772-B152-ED8868469B61}" presName="parTx" presStyleLbl="revTx" presStyleIdx="0" presStyleCnt="2" custLinFactNeighborX="12554" custLinFactNeighborY="31483">
        <dgm:presLayoutVars>
          <dgm:chMax val="0"/>
          <dgm:chPref val="0"/>
        </dgm:presLayoutVars>
      </dgm:prSet>
      <dgm:spPr/>
    </dgm:pt>
    <dgm:pt modelId="{0D6F1853-32FE-466A-8BCC-0478A0238670}" type="pres">
      <dgm:prSet presAssocID="{82A86A33-7E10-44A4-AD9B-63BD87687D13}" presName="sibTrans" presStyleCnt="0"/>
      <dgm:spPr/>
    </dgm:pt>
    <dgm:pt modelId="{8946E83D-A2A2-400F-BE7C-D47D041253B2}" type="pres">
      <dgm:prSet presAssocID="{37F58444-5DD2-4A02-9BB6-7083B6AAAEA2}" presName="compNode" presStyleCnt="0"/>
      <dgm:spPr/>
    </dgm:pt>
    <dgm:pt modelId="{A44FD741-FE39-4DF1-A3DA-66A5E60843FE}" type="pres">
      <dgm:prSet presAssocID="{37F58444-5DD2-4A02-9BB6-7083B6AAAEA2}" presName="bgRect" presStyleLbl="bgShp" presStyleIdx="1" presStyleCnt="2" custLinFactNeighborX="5299" custLinFactNeighborY="-14227"/>
      <dgm:spPr/>
    </dgm:pt>
    <dgm:pt modelId="{1A830554-67B4-4AF0-9DD5-7385D73259A5}" type="pres">
      <dgm:prSet presAssocID="{37F58444-5DD2-4A02-9BB6-7083B6AAAEA2}" presName="iconRect" presStyleLbl="node1" presStyleIdx="1" presStyleCnt="2" custLinFactNeighborX="-44635" custLinFactNeighborY="-5780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r"/>
        </a:ext>
      </dgm:extLst>
    </dgm:pt>
    <dgm:pt modelId="{172EABA4-F2F6-43A0-A025-760A97DAEAC4}" type="pres">
      <dgm:prSet presAssocID="{37F58444-5DD2-4A02-9BB6-7083B6AAAEA2}" presName="spaceRect" presStyleCnt="0"/>
      <dgm:spPr/>
    </dgm:pt>
    <dgm:pt modelId="{C12781EE-7F3C-47E9-8750-EC158D4F327F}" type="pres">
      <dgm:prSet presAssocID="{37F58444-5DD2-4A02-9BB6-7083B6AAAEA2}" presName="parTx" presStyleLbl="revTx" presStyleIdx="1" presStyleCnt="2" custScaleX="132414" custScaleY="132455" custLinFactNeighborX="1472" custLinFactNeighborY="-20760">
        <dgm:presLayoutVars>
          <dgm:chMax val="0"/>
          <dgm:chPref val="0"/>
        </dgm:presLayoutVars>
      </dgm:prSet>
      <dgm:spPr/>
    </dgm:pt>
  </dgm:ptLst>
  <dgm:cxnLst>
    <dgm:cxn modelId="{6634CF17-17C7-4E8F-9D38-2C54BA1DEF96}" type="presOf" srcId="{D9A9AD35-60C0-43C4-B394-A1D763F91DE5}" destId="{E1C74E34-69DB-45A3-AD78-433671C0CF5D}" srcOrd="0" destOrd="0" presId="urn:microsoft.com/office/officeart/2018/2/layout/IconVerticalSolidList"/>
    <dgm:cxn modelId="{A7F65640-9A4D-4CF7-B9A1-C5B50434770C}" type="presOf" srcId="{94B5F503-A9CF-4772-B152-ED8868469B61}" destId="{35A17FD0-D39A-40E0-89BE-95AE4E3729B2}" srcOrd="0" destOrd="0" presId="urn:microsoft.com/office/officeart/2018/2/layout/IconVerticalSolidList"/>
    <dgm:cxn modelId="{B223CB4A-5BE0-4AC5-891F-DFEE8E5E3720}" srcId="{D9A9AD35-60C0-43C4-B394-A1D763F91DE5}" destId="{94B5F503-A9CF-4772-B152-ED8868469B61}" srcOrd="0" destOrd="0" parTransId="{5F43F0CB-6663-4864-A4A5-122AC36CEE56}" sibTransId="{82A86A33-7E10-44A4-AD9B-63BD87687D13}"/>
    <dgm:cxn modelId="{526C419F-6855-49FF-82C2-D8711819327A}" srcId="{D9A9AD35-60C0-43C4-B394-A1D763F91DE5}" destId="{37F58444-5DD2-4A02-9BB6-7083B6AAAEA2}" srcOrd="1" destOrd="0" parTransId="{A73DDE23-D439-4412-B592-6D64811C4B2F}" sibTransId="{AC6B8E9F-7B55-4C2E-A32D-2EFDCB4A59E0}"/>
    <dgm:cxn modelId="{AE0CAEC0-4C7D-456B-B288-7F1CCD00039A}" type="presOf" srcId="{37F58444-5DD2-4A02-9BB6-7083B6AAAEA2}" destId="{C12781EE-7F3C-47E9-8750-EC158D4F327F}" srcOrd="0" destOrd="0" presId="urn:microsoft.com/office/officeart/2018/2/layout/IconVerticalSolidList"/>
    <dgm:cxn modelId="{8F6BC298-5687-49A4-AD4D-48B561CA9572}" type="presParOf" srcId="{E1C74E34-69DB-45A3-AD78-433671C0CF5D}" destId="{A0CE31D3-778B-4E37-9CD1-C49A60217D44}" srcOrd="0" destOrd="0" presId="urn:microsoft.com/office/officeart/2018/2/layout/IconVerticalSolidList"/>
    <dgm:cxn modelId="{62A43132-AE4D-4A65-A2AF-1309D793A465}" type="presParOf" srcId="{A0CE31D3-778B-4E37-9CD1-C49A60217D44}" destId="{499CA153-0D48-4D45-A4B2-E4059539AD2C}" srcOrd="0" destOrd="0" presId="urn:microsoft.com/office/officeart/2018/2/layout/IconVerticalSolidList"/>
    <dgm:cxn modelId="{E6BC7917-EB20-43D6-9D0A-DCC8A8BB5BE0}" type="presParOf" srcId="{A0CE31D3-778B-4E37-9CD1-C49A60217D44}" destId="{7559F3A0-697A-4EEF-B537-A2D9C9FAAFDA}" srcOrd="1" destOrd="0" presId="urn:microsoft.com/office/officeart/2018/2/layout/IconVerticalSolidList"/>
    <dgm:cxn modelId="{C8E7E763-74CA-4838-930B-FFF8049BFA02}" type="presParOf" srcId="{A0CE31D3-778B-4E37-9CD1-C49A60217D44}" destId="{A53C0A9C-57F6-41AA-AF25-A434C6C08100}" srcOrd="2" destOrd="0" presId="urn:microsoft.com/office/officeart/2018/2/layout/IconVerticalSolidList"/>
    <dgm:cxn modelId="{AAFA10FE-D5E7-4297-A40E-E3FB6C36F8BD}" type="presParOf" srcId="{A0CE31D3-778B-4E37-9CD1-C49A60217D44}" destId="{35A17FD0-D39A-40E0-89BE-95AE4E3729B2}" srcOrd="3" destOrd="0" presId="urn:microsoft.com/office/officeart/2018/2/layout/IconVerticalSolidList"/>
    <dgm:cxn modelId="{88189BBB-D780-45D7-921C-15BCEA74D03E}" type="presParOf" srcId="{E1C74E34-69DB-45A3-AD78-433671C0CF5D}" destId="{0D6F1853-32FE-466A-8BCC-0478A0238670}" srcOrd="1" destOrd="0" presId="urn:microsoft.com/office/officeart/2018/2/layout/IconVerticalSolidList"/>
    <dgm:cxn modelId="{8773EE47-5265-447F-9E7F-174E0FE52AEE}" type="presParOf" srcId="{E1C74E34-69DB-45A3-AD78-433671C0CF5D}" destId="{8946E83D-A2A2-400F-BE7C-D47D041253B2}" srcOrd="2" destOrd="0" presId="urn:microsoft.com/office/officeart/2018/2/layout/IconVerticalSolidList"/>
    <dgm:cxn modelId="{2189B1B6-014D-45C1-864D-3BA393263140}" type="presParOf" srcId="{8946E83D-A2A2-400F-BE7C-D47D041253B2}" destId="{A44FD741-FE39-4DF1-A3DA-66A5E60843FE}" srcOrd="0" destOrd="0" presId="urn:microsoft.com/office/officeart/2018/2/layout/IconVerticalSolidList"/>
    <dgm:cxn modelId="{D7AD6FFF-C228-41D9-9D54-E00FC6DD157E}" type="presParOf" srcId="{8946E83D-A2A2-400F-BE7C-D47D041253B2}" destId="{1A830554-67B4-4AF0-9DD5-7385D73259A5}" srcOrd="1" destOrd="0" presId="urn:microsoft.com/office/officeart/2018/2/layout/IconVerticalSolidList"/>
    <dgm:cxn modelId="{62116AEE-461E-4E81-A2B0-A1B0739F3652}" type="presParOf" srcId="{8946E83D-A2A2-400F-BE7C-D47D041253B2}" destId="{172EABA4-F2F6-43A0-A025-760A97DAEAC4}" srcOrd="2" destOrd="0" presId="urn:microsoft.com/office/officeart/2018/2/layout/IconVerticalSolidList"/>
    <dgm:cxn modelId="{54EB2160-6A20-4A69-98EE-3C37A2D55DE5}" type="presParOf" srcId="{8946E83D-A2A2-400F-BE7C-D47D041253B2}" destId="{C12781EE-7F3C-47E9-8750-EC158D4F327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747293-2DF5-4EAC-AFCB-E6542E7A7A4B}">
      <dsp:nvSpPr>
        <dsp:cNvPr id="0" name=""/>
        <dsp:cNvSpPr/>
      </dsp:nvSpPr>
      <dsp:spPr>
        <a:xfrm>
          <a:off x="693155" y="337262"/>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E432F3-A951-404D-99E1-3950DA100DD4}">
      <dsp:nvSpPr>
        <dsp:cNvPr id="0" name=""/>
        <dsp:cNvSpPr/>
      </dsp:nvSpPr>
      <dsp:spPr>
        <a:xfrm>
          <a:off x="1394004" y="770736"/>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DAB424-1D35-44DB-B38B-FBBA9B79A3ED}">
      <dsp:nvSpPr>
        <dsp:cNvPr id="0" name=""/>
        <dsp:cNvSpPr/>
      </dsp:nvSpPr>
      <dsp:spPr>
        <a:xfrm>
          <a:off x="0" y="2927558"/>
          <a:ext cx="3600000" cy="1838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b="1" strike="noStrike" kern="1200" dirty="0"/>
            <a:t>General</a:t>
          </a:r>
        </a:p>
        <a:p>
          <a:pPr marL="0" lvl="0" indent="0" algn="ctr" defTabSz="889000">
            <a:lnSpc>
              <a:spcPct val="100000"/>
            </a:lnSpc>
            <a:spcBef>
              <a:spcPct val="0"/>
            </a:spcBef>
            <a:spcAft>
              <a:spcPct val="35000"/>
            </a:spcAft>
            <a:buNone/>
            <a:defRPr cap="all"/>
          </a:pPr>
          <a:r>
            <a:rPr lang="en-US" sz="2000" b="1" strike="noStrike" kern="1200" dirty="0"/>
            <a:t> Objective</a:t>
          </a:r>
          <a:endParaRPr lang="en-US" sz="2000" strike="noStrike" kern="1200" dirty="0"/>
        </a:p>
      </dsp:txBody>
      <dsp:txXfrm>
        <a:off x="0" y="2927558"/>
        <a:ext cx="3600000" cy="1838723"/>
      </dsp:txXfrm>
    </dsp:sp>
    <dsp:sp modelId="{60AB5CB8-3E0F-44CD-9D6D-18A1A2EEE4EA}">
      <dsp:nvSpPr>
        <dsp:cNvPr id="0" name=""/>
        <dsp:cNvSpPr/>
      </dsp:nvSpPr>
      <dsp:spPr>
        <a:xfrm>
          <a:off x="6260205" y="143453"/>
          <a:ext cx="2196000" cy="218645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52B6E1-B57F-4A24-810F-7BF01F647712}">
      <dsp:nvSpPr>
        <dsp:cNvPr id="0" name=""/>
        <dsp:cNvSpPr/>
      </dsp:nvSpPr>
      <dsp:spPr>
        <a:xfrm>
          <a:off x="6728205" y="954769"/>
          <a:ext cx="1260000" cy="125452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324893-0C25-41A8-8CE7-724AF7C8531A}">
      <dsp:nvSpPr>
        <dsp:cNvPr id="0" name=""/>
        <dsp:cNvSpPr/>
      </dsp:nvSpPr>
      <dsp:spPr>
        <a:xfrm>
          <a:off x="4353558" y="2927558"/>
          <a:ext cx="6132852" cy="21716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cap="all"/>
          </a:pPr>
          <a:r>
            <a:rPr lang="en-US" sz="2000" strike="noStrike" kern="1200" dirty="0"/>
            <a:t>To develop a deep learning image classification model capable of automatically identifying and diagnosing common maize leaf diseases and deploy it in an interactive dashboard for real-time diagnosis.</a:t>
          </a:r>
        </a:p>
      </dsp:txBody>
      <dsp:txXfrm>
        <a:off x="4353558" y="2927558"/>
        <a:ext cx="6132852" cy="21716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2D2A47-2456-4F17-82E8-6CCC363751A7}">
      <dsp:nvSpPr>
        <dsp:cNvPr id="0" name=""/>
        <dsp:cNvSpPr/>
      </dsp:nvSpPr>
      <dsp:spPr>
        <a:xfrm>
          <a:off x="0" y="0"/>
          <a:ext cx="12020549" cy="0"/>
        </a:xfrm>
        <a:prstGeom prst="line">
          <a:avLst/>
        </a:prstGeom>
        <a:gradFill rotWithShape="0">
          <a:gsLst>
            <a:gs pos="0">
              <a:schemeClr val="dk2">
                <a:hueOff val="0"/>
                <a:satOff val="0"/>
                <a:lumOff val="0"/>
                <a:alphaOff val="0"/>
                <a:tint val="97000"/>
                <a:satMod val="100000"/>
                <a:lumMod val="102000"/>
              </a:schemeClr>
            </a:gs>
            <a:gs pos="50000">
              <a:schemeClr val="dk2">
                <a:hueOff val="0"/>
                <a:satOff val="0"/>
                <a:lumOff val="0"/>
                <a:alphaOff val="0"/>
                <a:shade val="100000"/>
                <a:satMod val="103000"/>
                <a:lumMod val="100000"/>
              </a:schemeClr>
            </a:gs>
            <a:gs pos="100000">
              <a:schemeClr val="dk2">
                <a:hueOff val="0"/>
                <a:satOff val="0"/>
                <a:lumOff val="0"/>
                <a:alphaOff val="0"/>
                <a:shade val="93000"/>
                <a:satMod val="110000"/>
                <a:lumMod val="99000"/>
              </a:schemeClr>
            </a:gs>
          </a:gsLst>
          <a:lin ang="5400000" scaled="0"/>
        </a:gradFill>
        <a:ln w="6350"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5C2F956-4C03-428B-A8F2-32EB7447B075}">
      <dsp:nvSpPr>
        <dsp:cNvPr id="0" name=""/>
        <dsp:cNvSpPr/>
      </dsp:nvSpPr>
      <dsp:spPr>
        <a:xfrm>
          <a:off x="0" y="0"/>
          <a:ext cx="12020549" cy="336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dirty="0"/>
            <a:t>Findings – Objective 3</a:t>
          </a:r>
          <a:endParaRPr lang="en-US" sz="3800" kern="1200" dirty="0"/>
        </a:p>
      </dsp:txBody>
      <dsp:txXfrm>
        <a:off x="0" y="0"/>
        <a:ext cx="12020549" cy="3362325"/>
      </dsp:txXfrm>
    </dsp:sp>
    <dsp:sp modelId="{C82814F5-0DD0-4937-A8C4-636D5C5689D7}">
      <dsp:nvSpPr>
        <dsp:cNvPr id="0" name=""/>
        <dsp:cNvSpPr/>
      </dsp:nvSpPr>
      <dsp:spPr>
        <a:xfrm>
          <a:off x="0" y="2253093"/>
          <a:ext cx="12020549" cy="0"/>
        </a:xfrm>
        <a:prstGeom prst="line">
          <a:avLst/>
        </a:prstGeom>
        <a:gradFill rotWithShape="0">
          <a:gsLst>
            <a:gs pos="0">
              <a:schemeClr val="dk2">
                <a:hueOff val="0"/>
                <a:satOff val="0"/>
                <a:lumOff val="0"/>
                <a:alphaOff val="0"/>
                <a:tint val="97000"/>
                <a:satMod val="100000"/>
                <a:lumMod val="102000"/>
              </a:schemeClr>
            </a:gs>
            <a:gs pos="50000">
              <a:schemeClr val="dk2">
                <a:hueOff val="0"/>
                <a:satOff val="0"/>
                <a:lumOff val="0"/>
                <a:alphaOff val="0"/>
                <a:shade val="100000"/>
                <a:satMod val="103000"/>
                <a:lumMod val="100000"/>
              </a:schemeClr>
            </a:gs>
            <a:gs pos="100000">
              <a:schemeClr val="dk2">
                <a:hueOff val="0"/>
                <a:satOff val="0"/>
                <a:lumOff val="0"/>
                <a:alphaOff val="0"/>
                <a:shade val="93000"/>
                <a:satMod val="110000"/>
                <a:lumMod val="99000"/>
              </a:schemeClr>
            </a:gs>
          </a:gsLst>
          <a:lin ang="5400000" scaled="0"/>
        </a:gradFill>
        <a:ln w="6350"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4CEF63D-EFEA-4DE0-89BA-86F3EB0D9B67}">
      <dsp:nvSpPr>
        <dsp:cNvPr id="0" name=""/>
        <dsp:cNvSpPr/>
      </dsp:nvSpPr>
      <dsp:spPr>
        <a:xfrm>
          <a:off x="0" y="3362325"/>
          <a:ext cx="12020549" cy="336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 Custom CNN Accuracy: 92.37%</a:t>
          </a:r>
          <a:br>
            <a:rPr lang="en-US" sz="3800" kern="1200" dirty="0"/>
          </a:br>
          <a:r>
            <a:rPr lang="en-US" sz="3800" kern="1200" dirty="0"/>
            <a:t>• ResNet50 Accuracy: 77.42%</a:t>
          </a:r>
        </a:p>
        <a:p>
          <a:pPr marL="0" lvl="0" indent="0" algn="l" defTabSz="1689100">
            <a:lnSpc>
              <a:spcPct val="90000"/>
            </a:lnSpc>
            <a:spcBef>
              <a:spcPct val="0"/>
            </a:spcBef>
            <a:spcAft>
              <a:spcPct val="35000"/>
            </a:spcAft>
            <a:buNone/>
          </a:pPr>
          <a:r>
            <a:rPr lang="en-US" sz="3800" kern="1200" dirty="0"/>
            <a:t>ResNet50 Lower than CNN</a:t>
          </a:r>
        </a:p>
        <a:p>
          <a:pPr marL="0" lvl="0" indent="0" algn="l" defTabSz="1689100">
            <a:lnSpc>
              <a:spcPct val="90000"/>
            </a:lnSpc>
            <a:spcBef>
              <a:spcPct val="0"/>
            </a:spcBef>
            <a:spcAft>
              <a:spcPct val="35000"/>
            </a:spcAft>
            <a:buNone/>
          </a:pPr>
          <a:br>
            <a:rPr lang="en-US" sz="3800" kern="1200" dirty="0"/>
          </a:br>
          <a:r>
            <a:rPr lang="en-US" sz="3800" kern="1200" dirty="0"/>
            <a:t>• So Custom CNN achieved better predictive performance.</a:t>
          </a:r>
        </a:p>
      </dsp:txBody>
      <dsp:txXfrm>
        <a:off x="0" y="3362325"/>
        <a:ext cx="12020549" cy="33623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484BD-E64F-42FB-A8FE-26C153DD3CF6}">
      <dsp:nvSpPr>
        <dsp:cNvPr id="0" name=""/>
        <dsp:cNvSpPr/>
      </dsp:nvSpPr>
      <dsp:spPr>
        <a:xfrm>
          <a:off x="1831" y="688297"/>
          <a:ext cx="4869656" cy="4869656"/>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tx1"/>
              </a:solidFill>
            </a:rPr>
            <a:t>Findings – Objective 4</a:t>
          </a:r>
          <a:endParaRPr lang="en-US" sz="2500" kern="1200" dirty="0">
            <a:solidFill>
              <a:schemeClr val="tx1"/>
            </a:solidFill>
          </a:endParaRPr>
        </a:p>
      </dsp:txBody>
      <dsp:txXfrm>
        <a:off x="714976" y="1401442"/>
        <a:ext cx="3443366" cy="3443366"/>
      </dsp:txXfrm>
    </dsp:sp>
    <dsp:sp modelId="{453A9F37-112A-49BC-AD20-7EE4B1B61EF9}">
      <dsp:nvSpPr>
        <dsp:cNvPr id="0" name=""/>
        <dsp:cNvSpPr/>
      </dsp:nvSpPr>
      <dsp:spPr>
        <a:xfrm rot="144416">
          <a:off x="4635756" y="186092"/>
          <a:ext cx="2938945" cy="164350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5973" y="504441"/>
        <a:ext cx="2445893" cy="986104"/>
      </dsp:txXfrm>
    </dsp:sp>
    <dsp:sp modelId="{9CDE7814-BBBD-41E9-B660-5B733FC5CB6A}">
      <dsp:nvSpPr>
        <dsp:cNvPr id="0" name=""/>
        <dsp:cNvSpPr/>
      </dsp:nvSpPr>
      <dsp:spPr>
        <a:xfrm>
          <a:off x="7319116" y="994172"/>
          <a:ext cx="4869656" cy="4869656"/>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tx1"/>
              </a:solidFill>
            </a:rPr>
            <a:t>• Developed a </a:t>
          </a:r>
          <a:r>
            <a:rPr lang="en-US" sz="2500" kern="1200" dirty="0" err="1">
              <a:solidFill>
                <a:schemeClr val="tx1"/>
              </a:solidFill>
            </a:rPr>
            <a:t>Streamlit</a:t>
          </a:r>
          <a:r>
            <a:rPr lang="en-US" sz="2500" kern="1200" dirty="0">
              <a:solidFill>
                <a:schemeClr val="tx1"/>
              </a:solidFill>
            </a:rPr>
            <a:t> dashboard.</a:t>
          </a:r>
          <a:br>
            <a:rPr lang="en-US" sz="2500" kern="1200" dirty="0">
              <a:solidFill>
                <a:schemeClr val="tx1"/>
              </a:solidFill>
            </a:rPr>
          </a:br>
          <a:r>
            <a:rPr lang="en-US" sz="2500" kern="1200" dirty="0">
              <a:solidFill>
                <a:schemeClr val="tx1"/>
              </a:solidFill>
            </a:rPr>
            <a:t>• Upload maize leaf image.</a:t>
          </a:r>
          <a:br>
            <a:rPr lang="en-US" sz="2500" kern="1200" dirty="0">
              <a:solidFill>
                <a:schemeClr val="tx1"/>
              </a:solidFill>
            </a:rPr>
          </a:br>
          <a:r>
            <a:rPr lang="en-US" sz="2500" kern="1200" dirty="0">
              <a:solidFill>
                <a:schemeClr val="tx1"/>
              </a:solidFill>
            </a:rPr>
            <a:t>• Automatic disease prediction.</a:t>
          </a:r>
          <a:br>
            <a:rPr lang="en-US" sz="2500" kern="1200" dirty="0">
              <a:solidFill>
                <a:schemeClr val="tx1"/>
              </a:solidFill>
            </a:rPr>
          </a:br>
          <a:r>
            <a:rPr lang="en-US" sz="2500" kern="1200" dirty="0">
              <a:solidFill>
                <a:schemeClr val="tx1"/>
              </a:solidFill>
            </a:rPr>
            <a:t>• Confidence score and management advice.</a:t>
          </a:r>
          <a:br>
            <a:rPr lang="en-US" sz="2500" kern="1200" dirty="0">
              <a:solidFill>
                <a:schemeClr val="tx1"/>
              </a:solidFill>
            </a:rPr>
          </a:br>
          <a:r>
            <a:rPr lang="en-US" sz="2500" kern="1200" dirty="0">
              <a:solidFill>
                <a:schemeClr val="tx1"/>
              </a:solidFill>
            </a:rPr>
            <a:t>• Rejects non-maize images.</a:t>
          </a:r>
        </a:p>
      </dsp:txBody>
      <dsp:txXfrm>
        <a:off x="8032261" y="1707317"/>
        <a:ext cx="3443366" cy="3443366"/>
      </dsp:txXfrm>
    </dsp:sp>
    <dsp:sp modelId="{12B38CEE-66FA-4D16-BE79-6F45150E08F6}">
      <dsp:nvSpPr>
        <dsp:cNvPr id="0" name=""/>
        <dsp:cNvSpPr/>
      </dsp:nvSpPr>
      <dsp:spPr>
        <a:xfrm rot="10943166">
          <a:off x="4514244" y="4788748"/>
          <a:ext cx="3142353" cy="164350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5007082" y="5127714"/>
        <a:ext cx="2649301" cy="9861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CA153-0D48-4D45-A4B2-E4059539AD2C}">
      <dsp:nvSpPr>
        <dsp:cNvPr id="0" name=""/>
        <dsp:cNvSpPr/>
      </dsp:nvSpPr>
      <dsp:spPr>
        <a:xfrm>
          <a:off x="-23396" y="160869"/>
          <a:ext cx="12192001" cy="27188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59F3A0-697A-4EEF-B537-A2D9C9FAAFDA}">
      <dsp:nvSpPr>
        <dsp:cNvPr id="0" name=""/>
        <dsp:cNvSpPr/>
      </dsp:nvSpPr>
      <dsp:spPr>
        <a:xfrm>
          <a:off x="5082476" y="511422"/>
          <a:ext cx="1498086" cy="14953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A17FD0-D39A-40E0-89BE-95AE4E3729B2}">
      <dsp:nvSpPr>
        <dsp:cNvPr id="0" name=""/>
        <dsp:cNvSpPr/>
      </dsp:nvSpPr>
      <dsp:spPr>
        <a:xfrm>
          <a:off x="3252865" y="879337"/>
          <a:ext cx="8939135" cy="2721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7987" tIns="287987" rIns="287987" bIns="287987" numCol="1" spcCol="1270" anchor="ctr" anchorCtr="0">
          <a:noAutofit/>
        </a:bodyPr>
        <a:lstStyle/>
        <a:p>
          <a:pPr marL="0" lvl="0" indent="0" algn="l" defTabSz="1244600">
            <a:lnSpc>
              <a:spcPct val="90000"/>
            </a:lnSpc>
            <a:spcBef>
              <a:spcPct val="0"/>
            </a:spcBef>
            <a:spcAft>
              <a:spcPct val="35000"/>
            </a:spcAft>
            <a:buNone/>
          </a:pPr>
          <a:r>
            <a:rPr lang="en-US" sz="2800" b="1" u="sng" kern="1200" dirty="0"/>
            <a:t>Conclusion</a:t>
          </a:r>
          <a:endParaRPr lang="en-US" sz="2800" u="sng" kern="1200" dirty="0"/>
        </a:p>
      </dsp:txBody>
      <dsp:txXfrm>
        <a:off x="3252865" y="879337"/>
        <a:ext cx="8939135" cy="2721134"/>
      </dsp:txXfrm>
    </dsp:sp>
    <dsp:sp modelId="{A44FD741-FE39-4DF1-A3DA-66A5E60843FE}">
      <dsp:nvSpPr>
        <dsp:cNvPr id="0" name=""/>
        <dsp:cNvSpPr/>
      </dsp:nvSpPr>
      <dsp:spPr>
        <a:xfrm>
          <a:off x="-23396" y="3285838"/>
          <a:ext cx="12192001" cy="27188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830554-67B4-4AF0-9DD5-7385D73259A5}">
      <dsp:nvSpPr>
        <dsp:cNvPr id="0" name=""/>
        <dsp:cNvSpPr/>
      </dsp:nvSpPr>
      <dsp:spPr>
        <a:xfrm>
          <a:off x="0" y="3419948"/>
          <a:ext cx="1498086" cy="14953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2781EE-7F3C-47E9-8750-EC158D4F327F}">
      <dsp:nvSpPr>
        <dsp:cNvPr id="0" name=""/>
        <dsp:cNvSpPr/>
      </dsp:nvSpPr>
      <dsp:spPr>
        <a:xfrm>
          <a:off x="1024784" y="2666171"/>
          <a:ext cx="11836666" cy="36042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7987" tIns="287987" rIns="287987" bIns="287987" numCol="1" spcCol="1270" anchor="ctr" anchorCtr="0">
          <a:noAutofit/>
        </a:bodyPr>
        <a:lstStyle/>
        <a:p>
          <a:pPr marL="0" lvl="0" indent="0" algn="l" defTabSz="1155700">
            <a:lnSpc>
              <a:spcPct val="90000"/>
            </a:lnSpc>
            <a:spcBef>
              <a:spcPct val="0"/>
            </a:spcBef>
            <a:spcAft>
              <a:spcPct val="35000"/>
            </a:spcAft>
            <a:buNone/>
          </a:pPr>
          <a:r>
            <a:rPr lang="en-US" sz="2600" kern="1200" dirty="0"/>
            <a:t>A deep learning model for maize disease detection was successfully developed.</a:t>
          </a:r>
          <a:endParaRPr lang="en-TZ" sz="2600" kern="1200" dirty="0"/>
        </a:p>
        <a:p>
          <a:pPr marL="0" lvl="0" indent="0" algn="l" defTabSz="1155700">
            <a:lnSpc>
              <a:spcPct val="90000"/>
            </a:lnSpc>
            <a:spcBef>
              <a:spcPct val="0"/>
            </a:spcBef>
            <a:spcAft>
              <a:spcPct val="35000"/>
            </a:spcAft>
            <a:buNone/>
          </a:pPr>
          <a:r>
            <a:rPr lang="en-US" sz="2600" kern="1200" dirty="0"/>
            <a:t>The model achieved approximately 92.4% accuracy.</a:t>
          </a:r>
          <a:endParaRPr lang="en-TZ" sz="2600" kern="1200" dirty="0"/>
        </a:p>
        <a:p>
          <a:pPr marL="0" lvl="0" indent="0" algn="l" defTabSz="1155700">
            <a:lnSpc>
              <a:spcPct val="90000"/>
            </a:lnSpc>
            <a:spcBef>
              <a:spcPct val="0"/>
            </a:spcBef>
            <a:spcAft>
              <a:spcPct val="35000"/>
            </a:spcAft>
            <a:buNone/>
          </a:pPr>
          <a:r>
            <a:rPr lang="en-US" sz="2600" kern="1200" dirty="0"/>
            <a:t>The system can automatically identify maize diseases from leaf images.</a:t>
          </a:r>
          <a:endParaRPr lang="en-TZ" sz="2600" kern="1200" dirty="0"/>
        </a:p>
        <a:p>
          <a:pPr marL="0" lvl="0" indent="0" algn="l" defTabSz="1155700">
            <a:lnSpc>
              <a:spcPct val="90000"/>
            </a:lnSpc>
            <a:spcBef>
              <a:spcPct val="0"/>
            </a:spcBef>
            <a:spcAft>
              <a:spcPct val="35000"/>
            </a:spcAft>
            <a:buNone/>
          </a:pPr>
          <a:r>
            <a:rPr lang="en-US" sz="2600" kern="1200" dirty="0"/>
            <a:t>The dashboard provides real-time diagnosis and confidence scores.</a:t>
          </a:r>
          <a:endParaRPr lang="en-TZ" sz="2600" kern="1200" dirty="0"/>
        </a:p>
        <a:p>
          <a:pPr marL="0" lvl="0" indent="0" algn="l" defTabSz="1155700">
            <a:lnSpc>
              <a:spcPct val="90000"/>
            </a:lnSpc>
            <a:spcBef>
              <a:spcPct val="0"/>
            </a:spcBef>
            <a:spcAft>
              <a:spcPct val="35000"/>
            </a:spcAft>
            <a:buNone/>
          </a:pPr>
          <a:r>
            <a:rPr lang="en-US" sz="2600" kern="1200" dirty="0"/>
            <a:t>The project demonstrates the potential of AI in supporting Tanzanian agriculture.</a:t>
          </a:r>
        </a:p>
      </dsp:txBody>
      <dsp:txXfrm>
        <a:off x="1024784" y="2666171"/>
        <a:ext cx="11836666" cy="3604278"/>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4469E7-371C-4EF5-B045-06C153AE0483}" type="datetimeFigureOut">
              <a:rPr lang="en-TZ" smtClean="0"/>
              <a:t>16/07/2026</a:t>
            </a:fld>
            <a:endParaRPr lang="en-T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FD181-258E-4572-A989-3A5A09E36DD9}" type="slidenum">
              <a:rPr lang="en-TZ" smtClean="0"/>
              <a:t>‹#›</a:t>
            </a:fld>
            <a:endParaRPr lang="en-TZ"/>
          </a:p>
        </p:txBody>
      </p:sp>
    </p:spTree>
    <p:extLst>
      <p:ext uri="{BB962C8B-B14F-4D97-AF65-F5344CB8AC3E}">
        <p14:creationId xmlns:p14="http://schemas.microsoft.com/office/powerpoint/2010/main" val="1736901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4FFD181-258E-4572-A989-3A5A09E36DD9}" type="slidenum">
              <a:rPr lang="en-TZ" smtClean="0"/>
              <a:t>12</a:t>
            </a:fld>
            <a:endParaRPr lang="en-TZ"/>
          </a:p>
        </p:txBody>
      </p:sp>
    </p:spTree>
    <p:extLst>
      <p:ext uri="{BB962C8B-B14F-4D97-AF65-F5344CB8AC3E}">
        <p14:creationId xmlns:p14="http://schemas.microsoft.com/office/powerpoint/2010/main" val="424015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AEC6CE2-954F-4CB0-91CE-8D90B83A8F63}" type="datetimeFigureOut">
              <a:rPr lang="en-TZ" smtClean="0"/>
              <a:t>16/07/2026</a:t>
            </a:fld>
            <a:endParaRPr lang="en-TZ"/>
          </a:p>
        </p:txBody>
      </p:sp>
      <p:sp>
        <p:nvSpPr>
          <p:cNvPr id="8" name="Footer Placeholder 7"/>
          <p:cNvSpPr>
            <a:spLocks noGrp="1"/>
          </p:cNvSpPr>
          <p:nvPr>
            <p:ph type="ftr" sz="quarter" idx="11"/>
          </p:nvPr>
        </p:nvSpPr>
        <p:spPr/>
        <p:txBody>
          <a:bodyPr/>
          <a:lstStyle/>
          <a:p>
            <a:endParaRPr lang="en-TZ"/>
          </a:p>
        </p:txBody>
      </p:sp>
      <p:sp>
        <p:nvSpPr>
          <p:cNvPr id="9" name="Slide Number Placeholder 8"/>
          <p:cNvSpPr>
            <a:spLocks noGrp="1"/>
          </p:cNvSpPr>
          <p:nvPr>
            <p:ph type="sldNum" sz="quarter" idx="12"/>
          </p:nvPr>
        </p:nvSpPr>
        <p:spPr/>
        <p:txBody>
          <a:bodyPr/>
          <a:lstStyle/>
          <a:p>
            <a:fld id="{A12EC932-D076-409E-8CE9-5B029507D70B}" type="slidenum">
              <a:rPr lang="en-TZ" smtClean="0"/>
              <a:t>‹#›</a:t>
            </a:fld>
            <a:endParaRPr lang="en-TZ"/>
          </a:p>
        </p:txBody>
      </p:sp>
    </p:spTree>
    <p:extLst>
      <p:ext uri="{BB962C8B-B14F-4D97-AF65-F5344CB8AC3E}">
        <p14:creationId xmlns:p14="http://schemas.microsoft.com/office/powerpoint/2010/main" val="420554593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AEC6CE2-954F-4CB0-91CE-8D90B83A8F63}" type="datetimeFigureOut">
              <a:rPr lang="en-TZ" smtClean="0"/>
              <a:t>16/07/2026</a:t>
            </a:fld>
            <a:endParaRPr lang="en-TZ"/>
          </a:p>
        </p:txBody>
      </p:sp>
      <p:sp>
        <p:nvSpPr>
          <p:cNvPr id="8" name="Footer Placeholder 7"/>
          <p:cNvSpPr>
            <a:spLocks noGrp="1"/>
          </p:cNvSpPr>
          <p:nvPr>
            <p:ph type="ftr" sz="quarter" idx="11"/>
          </p:nvPr>
        </p:nvSpPr>
        <p:spPr/>
        <p:txBody>
          <a:bodyPr/>
          <a:lstStyle/>
          <a:p>
            <a:endParaRPr lang="en-TZ"/>
          </a:p>
        </p:txBody>
      </p:sp>
      <p:sp>
        <p:nvSpPr>
          <p:cNvPr id="9" name="Slide Number Placeholder 8"/>
          <p:cNvSpPr>
            <a:spLocks noGrp="1"/>
          </p:cNvSpPr>
          <p:nvPr>
            <p:ph type="sldNum" sz="quarter" idx="12"/>
          </p:nvPr>
        </p:nvSpPr>
        <p:spPr/>
        <p:txBody>
          <a:bodyPr/>
          <a:lstStyle/>
          <a:p>
            <a:fld id="{A12EC932-D076-409E-8CE9-5B029507D70B}" type="slidenum">
              <a:rPr lang="en-TZ" smtClean="0"/>
              <a:t>‹#›</a:t>
            </a:fld>
            <a:endParaRPr lang="en-TZ"/>
          </a:p>
        </p:txBody>
      </p:sp>
    </p:spTree>
    <p:extLst>
      <p:ext uri="{BB962C8B-B14F-4D97-AF65-F5344CB8AC3E}">
        <p14:creationId xmlns:p14="http://schemas.microsoft.com/office/powerpoint/2010/main" val="161029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AEC6CE2-954F-4CB0-91CE-8D90B83A8F63}" type="datetimeFigureOut">
              <a:rPr lang="en-TZ" smtClean="0"/>
              <a:t>16/07/2026</a:t>
            </a:fld>
            <a:endParaRPr lang="en-TZ"/>
          </a:p>
        </p:txBody>
      </p:sp>
      <p:sp>
        <p:nvSpPr>
          <p:cNvPr id="8" name="Footer Placeholder 7"/>
          <p:cNvSpPr>
            <a:spLocks noGrp="1"/>
          </p:cNvSpPr>
          <p:nvPr>
            <p:ph type="ftr" sz="quarter" idx="11"/>
          </p:nvPr>
        </p:nvSpPr>
        <p:spPr/>
        <p:txBody>
          <a:bodyPr/>
          <a:lstStyle/>
          <a:p>
            <a:endParaRPr lang="en-TZ"/>
          </a:p>
        </p:txBody>
      </p:sp>
      <p:sp>
        <p:nvSpPr>
          <p:cNvPr id="9" name="Slide Number Placeholder 8"/>
          <p:cNvSpPr>
            <a:spLocks noGrp="1"/>
          </p:cNvSpPr>
          <p:nvPr>
            <p:ph type="sldNum" sz="quarter" idx="12"/>
          </p:nvPr>
        </p:nvSpPr>
        <p:spPr/>
        <p:txBody>
          <a:bodyPr/>
          <a:lstStyle/>
          <a:p>
            <a:fld id="{A12EC932-D076-409E-8CE9-5B029507D70B}" type="slidenum">
              <a:rPr lang="en-TZ" smtClean="0"/>
              <a:t>‹#›</a:t>
            </a:fld>
            <a:endParaRPr lang="en-TZ"/>
          </a:p>
        </p:txBody>
      </p:sp>
    </p:spTree>
    <p:extLst>
      <p:ext uri="{BB962C8B-B14F-4D97-AF65-F5344CB8AC3E}">
        <p14:creationId xmlns:p14="http://schemas.microsoft.com/office/powerpoint/2010/main" val="401847283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AEC6CE2-954F-4CB0-91CE-8D90B83A8F63}" type="datetimeFigureOut">
              <a:rPr lang="en-TZ" smtClean="0"/>
              <a:t>16/07/2026</a:t>
            </a:fld>
            <a:endParaRPr lang="en-TZ"/>
          </a:p>
        </p:txBody>
      </p:sp>
      <p:sp>
        <p:nvSpPr>
          <p:cNvPr id="9" name="Footer Placeholder 8"/>
          <p:cNvSpPr>
            <a:spLocks noGrp="1"/>
          </p:cNvSpPr>
          <p:nvPr>
            <p:ph type="ftr" sz="quarter" idx="11"/>
          </p:nvPr>
        </p:nvSpPr>
        <p:spPr/>
        <p:txBody>
          <a:bodyPr/>
          <a:lstStyle/>
          <a:p>
            <a:endParaRPr lang="en-TZ"/>
          </a:p>
        </p:txBody>
      </p:sp>
      <p:sp>
        <p:nvSpPr>
          <p:cNvPr id="10" name="Slide Number Placeholder 9"/>
          <p:cNvSpPr>
            <a:spLocks noGrp="1"/>
          </p:cNvSpPr>
          <p:nvPr>
            <p:ph type="sldNum" sz="quarter" idx="12"/>
          </p:nvPr>
        </p:nvSpPr>
        <p:spPr/>
        <p:txBody>
          <a:bodyPr/>
          <a:lstStyle/>
          <a:p>
            <a:fld id="{A12EC932-D076-409E-8CE9-5B029507D70B}" type="slidenum">
              <a:rPr lang="en-TZ" smtClean="0"/>
              <a:t>‹#›</a:t>
            </a:fld>
            <a:endParaRPr lang="en-TZ"/>
          </a:p>
        </p:txBody>
      </p:sp>
    </p:spTree>
    <p:extLst>
      <p:ext uri="{BB962C8B-B14F-4D97-AF65-F5344CB8AC3E}">
        <p14:creationId xmlns:p14="http://schemas.microsoft.com/office/powerpoint/2010/main" val="3483563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1AEC6CE2-954F-4CB0-91CE-8D90B83A8F63}" type="datetimeFigureOut">
              <a:rPr lang="en-TZ" smtClean="0"/>
              <a:t>16/07/2026</a:t>
            </a:fld>
            <a:endParaRPr lang="en-TZ"/>
          </a:p>
        </p:txBody>
      </p:sp>
      <p:sp>
        <p:nvSpPr>
          <p:cNvPr id="8" name="Footer Placeholder 7"/>
          <p:cNvSpPr>
            <a:spLocks noGrp="1"/>
          </p:cNvSpPr>
          <p:nvPr>
            <p:ph type="ftr" sz="quarter" idx="11"/>
          </p:nvPr>
        </p:nvSpPr>
        <p:spPr/>
        <p:txBody>
          <a:bodyPr/>
          <a:lstStyle/>
          <a:p>
            <a:endParaRPr lang="en-TZ"/>
          </a:p>
        </p:txBody>
      </p:sp>
      <p:sp>
        <p:nvSpPr>
          <p:cNvPr id="9" name="Slide Number Placeholder 8"/>
          <p:cNvSpPr>
            <a:spLocks noGrp="1"/>
          </p:cNvSpPr>
          <p:nvPr>
            <p:ph type="sldNum" sz="quarter" idx="12"/>
          </p:nvPr>
        </p:nvSpPr>
        <p:spPr/>
        <p:txBody>
          <a:bodyPr/>
          <a:lstStyle/>
          <a:p>
            <a:fld id="{A12EC932-D076-409E-8CE9-5B029507D70B}" type="slidenum">
              <a:rPr lang="en-TZ" smtClean="0"/>
              <a:t>‹#›</a:t>
            </a:fld>
            <a:endParaRPr lang="en-TZ"/>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834158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AEC6CE2-954F-4CB0-91CE-8D90B83A8F63}" type="datetimeFigureOut">
              <a:rPr lang="en-TZ" smtClean="0"/>
              <a:t>16/07/2026</a:t>
            </a:fld>
            <a:endParaRPr lang="en-TZ"/>
          </a:p>
        </p:txBody>
      </p:sp>
      <p:sp>
        <p:nvSpPr>
          <p:cNvPr id="4" name="Footer Placeholder 3"/>
          <p:cNvSpPr>
            <a:spLocks noGrp="1"/>
          </p:cNvSpPr>
          <p:nvPr>
            <p:ph type="ftr" sz="quarter" idx="11"/>
          </p:nvPr>
        </p:nvSpPr>
        <p:spPr/>
        <p:txBody>
          <a:bodyPr/>
          <a:lstStyle/>
          <a:p>
            <a:endParaRPr lang="en-TZ"/>
          </a:p>
        </p:txBody>
      </p:sp>
      <p:sp>
        <p:nvSpPr>
          <p:cNvPr id="5" name="Slide Number Placeholder 4"/>
          <p:cNvSpPr>
            <a:spLocks noGrp="1"/>
          </p:cNvSpPr>
          <p:nvPr>
            <p:ph type="sldNum" sz="quarter" idx="12"/>
          </p:nvPr>
        </p:nvSpPr>
        <p:spPr/>
        <p:txBody>
          <a:bodyPr/>
          <a:lstStyle/>
          <a:p>
            <a:fld id="{A12EC932-D076-409E-8CE9-5B029507D70B}" type="slidenum">
              <a:rPr lang="en-TZ" smtClean="0"/>
              <a:t>‹#›</a:t>
            </a:fld>
            <a:endParaRPr lang="en-TZ"/>
          </a:p>
        </p:txBody>
      </p:sp>
    </p:spTree>
    <p:extLst>
      <p:ext uri="{BB962C8B-B14F-4D97-AF65-F5344CB8AC3E}">
        <p14:creationId xmlns:p14="http://schemas.microsoft.com/office/powerpoint/2010/main" val="3944958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EC6CE2-954F-4CB0-91CE-8D90B83A8F63}" type="datetimeFigureOut">
              <a:rPr lang="en-TZ" smtClean="0"/>
              <a:t>16/07/2026</a:t>
            </a:fld>
            <a:endParaRPr lang="en-TZ"/>
          </a:p>
        </p:txBody>
      </p:sp>
      <p:sp>
        <p:nvSpPr>
          <p:cNvPr id="3" name="Footer Placeholder 2"/>
          <p:cNvSpPr>
            <a:spLocks noGrp="1"/>
          </p:cNvSpPr>
          <p:nvPr>
            <p:ph type="ftr" sz="quarter" idx="11"/>
          </p:nvPr>
        </p:nvSpPr>
        <p:spPr/>
        <p:txBody>
          <a:bodyPr/>
          <a:lstStyle/>
          <a:p>
            <a:endParaRPr lang="en-TZ"/>
          </a:p>
        </p:txBody>
      </p:sp>
      <p:sp>
        <p:nvSpPr>
          <p:cNvPr id="4" name="Slide Number Placeholder 3"/>
          <p:cNvSpPr>
            <a:spLocks noGrp="1"/>
          </p:cNvSpPr>
          <p:nvPr>
            <p:ph type="sldNum" sz="quarter" idx="12"/>
          </p:nvPr>
        </p:nvSpPr>
        <p:spPr/>
        <p:txBody>
          <a:bodyPr/>
          <a:lstStyle/>
          <a:p>
            <a:fld id="{A12EC932-D076-409E-8CE9-5B029507D70B}" type="slidenum">
              <a:rPr lang="en-TZ" smtClean="0"/>
              <a:t>‹#›</a:t>
            </a:fld>
            <a:endParaRPr lang="en-TZ"/>
          </a:p>
        </p:txBody>
      </p:sp>
    </p:spTree>
    <p:extLst>
      <p:ext uri="{BB962C8B-B14F-4D97-AF65-F5344CB8AC3E}">
        <p14:creationId xmlns:p14="http://schemas.microsoft.com/office/powerpoint/2010/main" val="2023074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1AEC6CE2-954F-4CB0-91CE-8D90B83A8F63}" type="datetimeFigureOut">
              <a:rPr lang="en-TZ" smtClean="0"/>
              <a:t>16/07/2026</a:t>
            </a:fld>
            <a:endParaRPr lang="en-TZ"/>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TZ"/>
          </a:p>
        </p:txBody>
      </p:sp>
      <p:sp>
        <p:nvSpPr>
          <p:cNvPr id="11" name="Slide Number Placeholder 10"/>
          <p:cNvSpPr>
            <a:spLocks noGrp="1"/>
          </p:cNvSpPr>
          <p:nvPr>
            <p:ph type="sldNum" sz="quarter" idx="12"/>
          </p:nvPr>
        </p:nvSpPr>
        <p:spPr/>
        <p:txBody>
          <a:bodyPr/>
          <a:lstStyle/>
          <a:p>
            <a:fld id="{A12EC932-D076-409E-8CE9-5B029507D70B}" type="slidenum">
              <a:rPr lang="en-TZ" smtClean="0"/>
              <a:t>‹#›</a:t>
            </a:fld>
            <a:endParaRPr lang="en-TZ"/>
          </a:p>
        </p:txBody>
      </p:sp>
    </p:spTree>
    <p:extLst>
      <p:ext uri="{BB962C8B-B14F-4D97-AF65-F5344CB8AC3E}">
        <p14:creationId xmlns:p14="http://schemas.microsoft.com/office/powerpoint/2010/main" val="3729743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AEC6CE2-954F-4CB0-91CE-8D90B83A8F63}" type="datetimeFigureOut">
              <a:rPr lang="en-TZ" smtClean="0"/>
              <a:t>16/07/2026</a:t>
            </a:fld>
            <a:endParaRPr lang="en-TZ"/>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TZ"/>
          </a:p>
        </p:txBody>
      </p:sp>
      <p:sp>
        <p:nvSpPr>
          <p:cNvPr id="10" name="Slide Number Placeholder 9"/>
          <p:cNvSpPr>
            <a:spLocks noGrp="1"/>
          </p:cNvSpPr>
          <p:nvPr>
            <p:ph type="sldNum" sz="quarter" idx="12"/>
          </p:nvPr>
        </p:nvSpPr>
        <p:spPr/>
        <p:txBody>
          <a:bodyPr/>
          <a:lstStyle/>
          <a:p>
            <a:fld id="{A12EC932-D076-409E-8CE9-5B029507D70B}" type="slidenum">
              <a:rPr lang="en-TZ" smtClean="0"/>
              <a:t>‹#›</a:t>
            </a:fld>
            <a:endParaRPr lang="en-TZ"/>
          </a:p>
        </p:txBody>
      </p:sp>
    </p:spTree>
    <p:extLst>
      <p:ext uri="{BB962C8B-B14F-4D97-AF65-F5344CB8AC3E}">
        <p14:creationId xmlns:p14="http://schemas.microsoft.com/office/powerpoint/2010/main" val="415299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EC6CE2-954F-4CB0-91CE-8D90B83A8F63}" type="datetimeFigureOut">
              <a:rPr lang="en-TZ" smtClean="0"/>
              <a:t>16/07/2026</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A12EC932-D076-409E-8CE9-5B029507D70B}" type="slidenum">
              <a:rPr lang="en-TZ" smtClean="0"/>
              <a:t>‹#›</a:t>
            </a:fld>
            <a:endParaRPr lang="en-TZ"/>
          </a:p>
        </p:txBody>
      </p:sp>
    </p:spTree>
    <p:extLst>
      <p:ext uri="{BB962C8B-B14F-4D97-AF65-F5344CB8AC3E}">
        <p14:creationId xmlns:p14="http://schemas.microsoft.com/office/powerpoint/2010/main" val="1300656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EC6CE2-954F-4CB0-91CE-8D90B83A8F63}" type="datetimeFigureOut">
              <a:rPr lang="en-TZ" smtClean="0"/>
              <a:t>16/07/2026</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A12EC932-D076-409E-8CE9-5B029507D70B}" type="slidenum">
              <a:rPr lang="en-TZ" smtClean="0"/>
              <a:t>‹#›</a:t>
            </a:fld>
            <a:endParaRPr lang="en-TZ"/>
          </a:p>
        </p:txBody>
      </p:sp>
    </p:spTree>
    <p:extLst>
      <p:ext uri="{BB962C8B-B14F-4D97-AF65-F5344CB8AC3E}">
        <p14:creationId xmlns:p14="http://schemas.microsoft.com/office/powerpoint/2010/main" val="224425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AEC6CE2-954F-4CB0-91CE-8D90B83A8F63}" type="datetimeFigureOut">
              <a:rPr lang="en-TZ" smtClean="0"/>
              <a:t>16/07/2026</a:t>
            </a:fld>
            <a:endParaRPr lang="en-TZ"/>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TZ"/>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A12EC932-D076-409E-8CE9-5B029507D70B}" type="slidenum">
              <a:rPr lang="en-TZ" smtClean="0"/>
              <a:t>‹#›</a:t>
            </a:fld>
            <a:endParaRPr lang="en-TZ"/>
          </a:p>
        </p:txBody>
      </p:sp>
    </p:spTree>
    <p:extLst>
      <p:ext uri="{BB962C8B-B14F-4D97-AF65-F5344CB8AC3E}">
        <p14:creationId xmlns:p14="http://schemas.microsoft.com/office/powerpoint/2010/main" val="112186831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9891A-6DCF-DCF3-B381-F27FB7E00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03F7F-6279-2108-CCFB-A2E8A6A6D957}"/>
              </a:ext>
            </a:extLst>
          </p:cNvPr>
          <p:cNvSpPr>
            <a:spLocks noGrp="1"/>
          </p:cNvSpPr>
          <p:nvPr>
            <p:ph type="ctrTitle"/>
          </p:nvPr>
        </p:nvSpPr>
        <p:spPr>
          <a:xfrm>
            <a:off x="1406012" y="1284596"/>
            <a:ext cx="9144000" cy="2387600"/>
          </a:xfrm>
        </p:spPr>
        <p:txBody>
          <a:bodyPr>
            <a:normAutofit fontScale="90000"/>
          </a:bodyPr>
          <a:lstStyle/>
          <a:p>
            <a:r>
              <a:rPr lang="en-US" b="1" dirty="0">
                <a:solidFill>
                  <a:schemeClr val="bg1"/>
                </a:solidFill>
              </a:rPr>
              <a:t>Title</a:t>
            </a:r>
            <a:br>
              <a:rPr lang="en-TZ" b="1" dirty="0">
                <a:solidFill>
                  <a:schemeClr val="bg1"/>
                </a:solidFill>
              </a:rPr>
            </a:br>
            <a:br>
              <a:rPr lang="en-US" b="1" dirty="0">
                <a:solidFill>
                  <a:schemeClr val="bg1"/>
                </a:solidFill>
              </a:rPr>
            </a:br>
            <a:br>
              <a:rPr lang="en-US" b="1" dirty="0">
                <a:solidFill>
                  <a:schemeClr val="bg1"/>
                </a:solidFill>
              </a:rPr>
            </a:br>
            <a:br>
              <a:rPr lang="en-US" b="1" dirty="0">
                <a:solidFill>
                  <a:schemeClr val="bg1"/>
                </a:solidFill>
              </a:rPr>
            </a:br>
            <a:br>
              <a:rPr lang="en-US" b="1" dirty="0">
                <a:solidFill>
                  <a:schemeClr val="bg1"/>
                </a:solidFill>
              </a:rPr>
            </a:br>
            <a:r>
              <a:rPr lang="en-US" b="1" u="sng" dirty="0">
                <a:solidFill>
                  <a:schemeClr val="bg1"/>
                </a:solidFill>
              </a:rPr>
              <a:t>TITLE:</a:t>
            </a:r>
            <a:br>
              <a:rPr lang="en-US" b="1" u="sng" dirty="0">
                <a:solidFill>
                  <a:schemeClr val="bg1"/>
                </a:solidFill>
              </a:rPr>
            </a:br>
            <a:br>
              <a:rPr lang="en-US" b="1" dirty="0">
                <a:solidFill>
                  <a:schemeClr val="bg1"/>
                </a:solidFill>
              </a:rPr>
            </a:br>
            <a:r>
              <a:rPr lang="en-US" b="1" dirty="0">
                <a:solidFill>
                  <a:schemeClr val="bg1"/>
                </a:solidFill>
              </a:rPr>
              <a:t>Developing a Predictive Deep Learning Model for the Early Detection of Maize Leaf Diseases in Tanzania</a:t>
            </a:r>
            <a:br>
              <a:rPr lang="en-US" b="1" dirty="0">
                <a:solidFill>
                  <a:schemeClr val="bg1"/>
                </a:solidFill>
              </a:rPr>
            </a:br>
            <a:br>
              <a:rPr lang="en-US" b="1" dirty="0">
                <a:solidFill>
                  <a:schemeClr val="bg1"/>
                </a:solidFill>
              </a:rPr>
            </a:br>
            <a:br>
              <a:rPr lang="en-US" b="1" dirty="0">
                <a:solidFill>
                  <a:schemeClr val="bg1"/>
                </a:solidFill>
              </a:rPr>
            </a:br>
            <a:br>
              <a:rPr lang="en-US" b="1" dirty="0">
                <a:solidFill>
                  <a:schemeClr val="bg1"/>
                </a:solidFill>
              </a:rPr>
            </a:br>
            <a:br>
              <a:rPr lang="en-US" b="1" dirty="0">
                <a:solidFill>
                  <a:schemeClr val="bg1"/>
                </a:solidFill>
              </a:rPr>
            </a:br>
            <a:br>
              <a:rPr lang="en-US" b="1" dirty="0">
                <a:solidFill>
                  <a:schemeClr val="bg1"/>
                </a:solidFill>
              </a:rPr>
            </a:br>
            <a:br>
              <a:rPr lang="en-TZ" dirty="0">
                <a:solidFill>
                  <a:schemeClr val="bg1"/>
                </a:solidFill>
              </a:rPr>
            </a:br>
            <a:endParaRPr lang="en-TZ" dirty="0">
              <a:solidFill>
                <a:schemeClr val="bg1"/>
              </a:solidFill>
            </a:endParaRPr>
          </a:p>
        </p:txBody>
      </p:sp>
    </p:spTree>
    <p:extLst>
      <p:ext uri="{BB962C8B-B14F-4D97-AF65-F5344CB8AC3E}">
        <p14:creationId xmlns:p14="http://schemas.microsoft.com/office/powerpoint/2010/main" val="34116381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874001-4619-23FF-E319-70D423DC11E4}"/>
              </a:ext>
            </a:extLst>
          </p:cNvPr>
          <p:cNvSpPr>
            <a:spLocks noGrp="1"/>
          </p:cNvSpPr>
          <p:nvPr>
            <p:ph idx="1"/>
          </p:nvPr>
        </p:nvSpPr>
        <p:spPr>
          <a:xfrm>
            <a:off x="1485728" y="327017"/>
            <a:ext cx="7729728" cy="3101983"/>
          </a:xfrm>
        </p:spPr>
        <p:txBody>
          <a:bodyPr>
            <a:noAutofit/>
          </a:bodyPr>
          <a:lstStyle/>
          <a:p>
            <a:r>
              <a:rPr lang="en-US" sz="2800" b="1" u="sng" dirty="0"/>
              <a:t>BACKGROUND</a:t>
            </a:r>
            <a:endParaRPr lang="en-TZ" sz="2800" b="1" u="sng" dirty="0"/>
          </a:p>
          <a:p>
            <a:r>
              <a:rPr lang="en-US" sz="2800" dirty="0"/>
              <a:t>Agriculture employs approximately 55% of Tanzania's workforce.</a:t>
            </a:r>
            <a:endParaRPr lang="en-TZ" sz="2800" dirty="0"/>
          </a:p>
          <a:p>
            <a:r>
              <a:rPr lang="en-US" sz="2800" dirty="0"/>
              <a:t>Maize is Tanzania's most important staple crop.</a:t>
            </a:r>
            <a:endParaRPr lang="en-TZ" sz="2800" dirty="0"/>
          </a:p>
          <a:p>
            <a:pPr marL="0" indent="0">
              <a:buNone/>
            </a:pPr>
            <a:r>
              <a:rPr lang="en-US" sz="2800" dirty="0"/>
              <a:t>Diseases such as:  Common Rust, Northern Leaf Blight, </a:t>
            </a:r>
            <a:r>
              <a:rPr lang="en-US" sz="2800" dirty="0" err="1"/>
              <a:t>Cercospora</a:t>
            </a:r>
            <a:r>
              <a:rPr lang="en-US" sz="2800" dirty="0"/>
              <a:t> Leaf Spot  Cause significant yield losses.</a:t>
            </a:r>
            <a:endParaRPr lang="en-TZ" sz="2800" dirty="0"/>
          </a:p>
          <a:p>
            <a:r>
              <a:rPr lang="en-US" sz="2800" dirty="0"/>
              <a:t>Traditional diagnosis relies on visual inspection by agricultural experts, which is often slow and inaccessible to many farmers.</a:t>
            </a:r>
            <a:endParaRPr lang="en-TZ" sz="2800" dirty="0"/>
          </a:p>
          <a:p>
            <a:endParaRPr lang="en-TZ" sz="2800" dirty="0"/>
          </a:p>
        </p:txBody>
      </p:sp>
    </p:spTree>
    <p:extLst>
      <p:ext uri="{BB962C8B-B14F-4D97-AF65-F5344CB8AC3E}">
        <p14:creationId xmlns:p14="http://schemas.microsoft.com/office/powerpoint/2010/main" val="988225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99C31D-A02E-5B00-F9E2-24FEB3A41D13}"/>
              </a:ext>
            </a:extLst>
          </p:cNvPr>
          <p:cNvSpPr>
            <a:spLocks noGrp="1"/>
          </p:cNvSpPr>
          <p:nvPr>
            <p:ph idx="1"/>
          </p:nvPr>
        </p:nvSpPr>
        <p:spPr>
          <a:xfrm>
            <a:off x="419100" y="327017"/>
            <a:ext cx="11544300" cy="5311783"/>
          </a:xfrm>
        </p:spPr>
        <p:txBody>
          <a:bodyPr>
            <a:noAutofit/>
          </a:bodyPr>
          <a:lstStyle/>
          <a:p>
            <a:r>
              <a:rPr lang="en-US" sz="2800" b="1" u="sng" dirty="0"/>
              <a:t>Problem Statement</a:t>
            </a:r>
            <a:endParaRPr lang="en-TZ" sz="2800" b="1" u="sng" dirty="0"/>
          </a:p>
          <a:p>
            <a:pPr marL="0" indent="0">
              <a:buNone/>
            </a:pPr>
            <a:r>
              <a:rPr lang="en-TZ" sz="2800" dirty="0"/>
              <a:t>Smallholder farmers frequently detect crop diseases only after significant damage has occurred, largely due to a severe shortage of agricultural extension officers in many regions, one officer serves hundreds or thousands of farmers. This delay often leads to misdiagnosis and indiscriminate pesticide use, increasing costs and environmental harm while failing to control the disease. An automated, accessible and accurate diagnostic tool could close this gap by giving farmers real-time answers without waiting for expert visits.</a:t>
            </a:r>
          </a:p>
          <a:p>
            <a:r>
              <a:rPr lang="en-TZ" sz="2800" dirty="0"/>
              <a:t>To address these challenges, we developed a deep learning-based</a:t>
            </a:r>
            <a:r>
              <a:rPr lang="en-US" sz="2800" dirty="0"/>
              <a:t> maize leaf</a:t>
            </a:r>
            <a:r>
              <a:rPr lang="en-TZ" sz="2800" dirty="0"/>
              <a:t> disease detection system.</a:t>
            </a:r>
          </a:p>
          <a:p>
            <a:endParaRPr lang="en-TZ" sz="2800" dirty="0"/>
          </a:p>
        </p:txBody>
      </p:sp>
    </p:spTree>
    <p:extLst>
      <p:ext uri="{BB962C8B-B14F-4D97-AF65-F5344CB8AC3E}">
        <p14:creationId xmlns:p14="http://schemas.microsoft.com/office/powerpoint/2010/main" val="2790589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657E5-5B30-F898-C78C-F638A28DCF5C}"/>
            </a:ext>
          </a:extLst>
        </p:cNvPr>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7E0138ED-B67B-67C6-1DC3-3EC438416547}"/>
              </a:ext>
            </a:extLst>
          </p:cNvPr>
          <p:cNvGraphicFramePr>
            <a:graphicFrameLocks noGrp="1"/>
          </p:cNvGraphicFramePr>
          <p:nvPr>
            <p:ph idx="1"/>
            <p:extLst>
              <p:ext uri="{D42A27DB-BD31-4B8C-83A1-F6EECF244321}">
                <p14:modId xmlns:p14="http://schemas.microsoft.com/office/powerpoint/2010/main" val="1297868763"/>
              </p:ext>
            </p:extLst>
          </p:nvPr>
        </p:nvGraphicFramePr>
        <p:xfrm>
          <a:off x="442452" y="501445"/>
          <a:ext cx="10486410" cy="58551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6611765"/>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38D26-B8AA-F24D-1954-F9DDA38D68C8}"/>
            </a:ext>
          </a:extLst>
        </p:cNvPr>
        <p:cNvGrpSpPr/>
        <p:nvPr/>
      </p:nvGrpSpPr>
      <p:grpSpPr>
        <a:xfrm>
          <a:off x="0" y="0"/>
          <a:ext cx="0" cy="0"/>
          <a:chOff x="0" y="0"/>
          <a:chExt cx="0" cy="0"/>
        </a:xfrm>
      </p:grpSpPr>
      <p:pic>
        <p:nvPicPr>
          <p:cNvPr id="5" name="Picture 4" descr="Green leaf 3D art">
            <a:extLst>
              <a:ext uri="{FF2B5EF4-FFF2-40B4-BE49-F238E27FC236}">
                <a16:creationId xmlns:a16="http://schemas.microsoft.com/office/drawing/2014/main" id="{256E86A3-73F1-4B1A-9BB1-902CFABAB53A}"/>
              </a:ext>
            </a:extLst>
          </p:cNvPr>
          <p:cNvPicPr>
            <a:picLocks noChangeAspect="1"/>
          </p:cNvPicPr>
          <p:nvPr/>
        </p:nvPicPr>
        <p:blipFill>
          <a:blip r:embed="rId2"/>
          <a:srcRect t="1904" b="-37931"/>
          <a:stretch>
            <a:fillRect/>
          </a:stretch>
        </p:blipFill>
        <p:spPr>
          <a:xfrm>
            <a:off x="20" y="619442"/>
            <a:ext cx="4635987" cy="6857990"/>
          </a:xfrm>
          <a:prstGeom prst="rect">
            <a:avLst/>
          </a:prstGeom>
          <a:noFill/>
        </p:spPr>
      </p:pic>
      <p:sp>
        <p:nvSpPr>
          <p:cNvPr id="3" name="Content Placeholder 2">
            <a:extLst>
              <a:ext uri="{FF2B5EF4-FFF2-40B4-BE49-F238E27FC236}">
                <a16:creationId xmlns:a16="http://schemas.microsoft.com/office/drawing/2014/main" id="{2F550727-16FA-7422-ED3D-20122A284492}"/>
              </a:ext>
            </a:extLst>
          </p:cNvPr>
          <p:cNvSpPr>
            <a:spLocks noGrp="1"/>
          </p:cNvSpPr>
          <p:nvPr>
            <p:ph idx="1"/>
          </p:nvPr>
        </p:nvSpPr>
        <p:spPr>
          <a:xfrm>
            <a:off x="5133948" y="458993"/>
            <a:ext cx="6340085" cy="3695136"/>
          </a:xfrm>
        </p:spPr>
        <p:txBody>
          <a:bodyPr>
            <a:noAutofit/>
          </a:bodyPr>
          <a:lstStyle/>
          <a:p>
            <a:pPr marL="0" indent="0">
              <a:buNone/>
            </a:pPr>
            <a:r>
              <a:rPr lang="en-US" sz="2800" b="1" dirty="0"/>
              <a:t> </a:t>
            </a:r>
            <a:r>
              <a:rPr lang="en-US" sz="2800" b="1" u="sng" dirty="0"/>
              <a:t>Specific Objectives</a:t>
            </a:r>
            <a:endParaRPr lang="en-TZ" sz="2800" b="1" u="sng" dirty="0"/>
          </a:p>
          <a:p>
            <a:pPr marL="0" indent="0">
              <a:buNone/>
            </a:pPr>
            <a:r>
              <a:rPr lang="en-US" sz="2800" dirty="0"/>
              <a:t>• To preprocess a sourced dataset of healthy and diseased maize leaf images.</a:t>
            </a:r>
            <a:br>
              <a:rPr lang="en-US" sz="2800" dirty="0"/>
            </a:br>
            <a:r>
              <a:rPr lang="en-US" sz="2800" dirty="0"/>
              <a:t>• To train Convolutional Neural Network (CNN) models.</a:t>
            </a:r>
            <a:br>
              <a:rPr lang="en-US" sz="2800" dirty="0"/>
            </a:br>
            <a:r>
              <a:rPr lang="en-US" sz="2800" dirty="0"/>
              <a:t>• To evaluate the model using Accuracy, Precision, Recall, F1-Score and Confusion Matrix.</a:t>
            </a:r>
            <a:br>
              <a:rPr lang="en-US" sz="2800" dirty="0"/>
            </a:br>
            <a:r>
              <a:rPr lang="en-US" sz="2800" dirty="0"/>
              <a:t>• To deploy the trained model into an interactive dashboard.</a:t>
            </a:r>
            <a:endParaRPr lang="en-TZ" sz="2800" dirty="0"/>
          </a:p>
          <a:p>
            <a:endParaRPr lang="en-TZ" sz="2800" dirty="0"/>
          </a:p>
        </p:txBody>
      </p:sp>
      <p:pic>
        <p:nvPicPr>
          <p:cNvPr id="7" name="Picture 6">
            <a:extLst>
              <a:ext uri="{FF2B5EF4-FFF2-40B4-BE49-F238E27FC236}">
                <a16:creationId xmlns:a16="http://schemas.microsoft.com/office/drawing/2014/main" id="{CE6D428E-C04D-4582-458D-9668FF941C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25" y="1061885"/>
            <a:ext cx="4448175" cy="3687096"/>
          </a:xfrm>
          <a:prstGeom prst="rect">
            <a:avLst/>
          </a:prstGeom>
        </p:spPr>
      </p:pic>
    </p:spTree>
    <p:extLst>
      <p:ext uri="{BB962C8B-B14F-4D97-AF65-F5344CB8AC3E}">
        <p14:creationId xmlns:p14="http://schemas.microsoft.com/office/powerpoint/2010/main" val="118066506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DC796-F9A9-AC1E-B833-66143015926E}"/>
            </a:ext>
          </a:extLst>
        </p:cNvPr>
        <p:cNvGrpSpPr/>
        <p:nvPr/>
      </p:nvGrpSpPr>
      <p:grpSpPr>
        <a:xfrm>
          <a:off x="0" y="0"/>
          <a:ext cx="0" cy="0"/>
          <a:chOff x="0" y="0"/>
          <a:chExt cx="0" cy="0"/>
        </a:xfrm>
      </p:grpSpPr>
      <p:pic>
        <p:nvPicPr>
          <p:cNvPr id="5" name="Picture 4" descr="Green leaf 3D art">
            <a:extLst>
              <a:ext uri="{FF2B5EF4-FFF2-40B4-BE49-F238E27FC236}">
                <a16:creationId xmlns:a16="http://schemas.microsoft.com/office/drawing/2014/main" id="{2F341E87-D202-FFD3-D017-BBD512FB6D22}"/>
              </a:ext>
            </a:extLst>
          </p:cNvPr>
          <p:cNvPicPr>
            <a:picLocks noChangeAspect="1"/>
          </p:cNvPicPr>
          <p:nvPr/>
        </p:nvPicPr>
        <p:blipFill>
          <a:blip r:embed="rId2"/>
          <a:srcRect t="1904" b="-37931"/>
          <a:stretch>
            <a:fillRect/>
          </a:stretch>
        </p:blipFill>
        <p:spPr>
          <a:xfrm>
            <a:off x="20" y="870164"/>
            <a:ext cx="4635987" cy="6857990"/>
          </a:xfrm>
          <a:prstGeom prst="rect">
            <a:avLst/>
          </a:prstGeom>
        </p:spPr>
      </p:pic>
      <p:sp>
        <p:nvSpPr>
          <p:cNvPr id="13" name="Content Placeholder 2">
            <a:extLst>
              <a:ext uri="{FF2B5EF4-FFF2-40B4-BE49-F238E27FC236}">
                <a16:creationId xmlns:a16="http://schemas.microsoft.com/office/drawing/2014/main" id="{3435C102-6CBC-3FB1-7A41-A45A1B7A1513}"/>
              </a:ext>
            </a:extLst>
          </p:cNvPr>
          <p:cNvSpPr>
            <a:spLocks noGrp="1"/>
          </p:cNvSpPr>
          <p:nvPr>
            <p:ph idx="1"/>
          </p:nvPr>
        </p:nvSpPr>
        <p:spPr>
          <a:xfrm>
            <a:off x="5384671" y="870164"/>
            <a:ext cx="6340085" cy="3695136"/>
          </a:xfrm>
        </p:spPr>
        <p:txBody>
          <a:bodyPr>
            <a:noAutofit/>
          </a:bodyPr>
          <a:lstStyle/>
          <a:p>
            <a:pPr marL="0" indent="0">
              <a:buNone/>
            </a:pPr>
            <a:r>
              <a:rPr lang="en-US" sz="2800" b="1" dirty="0"/>
              <a:t> Research Questions</a:t>
            </a:r>
            <a:endParaRPr lang="en-TZ" sz="2800" b="1" dirty="0"/>
          </a:p>
          <a:p>
            <a:pPr marL="0" indent="0">
              <a:buNone/>
            </a:pPr>
            <a:r>
              <a:rPr lang="en-US" sz="2800" dirty="0"/>
              <a:t>• What image preprocessing techniques are required?</a:t>
            </a:r>
            <a:br>
              <a:rPr lang="en-US" sz="2800" dirty="0"/>
            </a:br>
            <a:r>
              <a:rPr lang="en-US" sz="2800" dirty="0"/>
              <a:t>• Which CNN architecture performs best?</a:t>
            </a:r>
            <a:br>
              <a:rPr lang="en-US" sz="2800" dirty="0"/>
            </a:br>
            <a:r>
              <a:rPr lang="en-US" sz="2800" dirty="0"/>
              <a:t>• How accurately can the CNN classify maize leaf diseases?</a:t>
            </a:r>
            <a:br>
              <a:rPr lang="en-US" sz="2800" dirty="0"/>
            </a:br>
            <a:r>
              <a:rPr lang="en-US" sz="2800" dirty="0"/>
              <a:t>• How can the model be deployed for real-time diagnosis?</a:t>
            </a:r>
            <a:endParaRPr lang="en-TZ" sz="2800" dirty="0"/>
          </a:p>
          <a:p>
            <a:endParaRPr lang="en-TZ" sz="2800" dirty="0"/>
          </a:p>
        </p:txBody>
      </p:sp>
      <p:pic>
        <p:nvPicPr>
          <p:cNvPr id="3" name="Picture 2">
            <a:extLst>
              <a:ext uri="{FF2B5EF4-FFF2-40B4-BE49-F238E27FC236}">
                <a16:creationId xmlns:a16="http://schemas.microsoft.com/office/drawing/2014/main" id="{4B75F143-ABA9-7989-3278-A8545C5812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25" y="1445343"/>
            <a:ext cx="4448175" cy="3687096"/>
          </a:xfrm>
          <a:prstGeom prst="rect">
            <a:avLst/>
          </a:prstGeom>
        </p:spPr>
      </p:pic>
    </p:spTree>
    <p:extLst>
      <p:ext uri="{BB962C8B-B14F-4D97-AF65-F5344CB8AC3E}">
        <p14:creationId xmlns:p14="http://schemas.microsoft.com/office/powerpoint/2010/main" val="303417441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83627-94BC-9C13-0C9C-9FA3E7A0E5C4}"/>
            </a:ext>
          </a:extLst>
        </p:cNvPr>
        <p:cNvGrpSpPr/>
        <p:nvPr/>
      </p:nvGrpSpPr>
      <p:grpSpPr>
        <a:xfrm>
          <a:off x="0" y="0"/>
          <a:ext cx="0" cy="0"/>
          <a:chOff x="0" y="0"/>
          <a:chExt cx="0" cy="0"/>
        </a:xfrm>
      </p:grpSpPr>
      <p:pic>
        <p:nvPicPr>
          <p:cNvPr id="5" name="Picture 4" descr="An abstract botanical leaf">
            <a:extLst>
              <a:ext uri="{FF2B5EF4-FFF2-40B4-BE49-F238E27FC236}">
                <a16:creationId xmlns:a16="http://schemas.microsoft.com/office/drawing/2014/main" id="{B4B2D4DD-0DC9-1EC1-C007-773158E6F28D}"/>
              </a:ext>
            </a:extLst>
          </p:cNvPr>
          <p:cNvPicPr>
            <a:picLocks noChangeAspect="1"/>
          </p:cNvPicPr>
          <p:nvPr/>
        </p:nvPicPr>
        <p:blipFill>
          <a:blip r:embed="rId2"/>
          <a:srcRect l="24234" r="30643" b="-1"/>
          <a:stretch>
            <a:fillRect/>
          </a:stretch>
        </p:blipFill>
        <p:spPr>
          <a:xfrm>
            <a:off x="20" y="10"/>
            <a:ext cx="4635987" cy="6857990"/>
          </a:xfrm>
          <a:prstGeom prst="rect">
            <a:avLst/>
          </a:prstGeom>
        </p:spPr>
      </p:pic>
      <p:sp>
        <p:nvSpPr>
          <p:cNvPr id="3" name="Content Placeholder 2">
            <a:extLst>
              <a:ext uri="{FF2B5EF4-FFF2-40B4-BE49-F238E27FC236}">
                <a16:creationId xmlns:a16="http://schemas.microsoft.com/office/drawing/2014/main" id="{F6E19712-3A5C-42BC-97E3-544F1897A4D5}"/>
              </a:ext>
            </a:extLst>
          </p:cNvPr>
          <p:cNvSpPr>
            <a:spLocks noGrp="1"/>
          </p:cNvSpPr>
          <p:nvPr>
            <p:ph idx="1"/>
          </p:nvPr>
        </p:nvSpPr>
        <p:spPr>
          <a:xfrm>
            <a:off x="5240691" y="1382401"/>
            <a:ext cx="6340085" cy="3695136"/>
          </a:xfrm>
        </p:spPr>
        <p:txBody>
          <a:bodyPr>
            <a:noAutofit/>
          </a:bodyPr>
          <a:lstStyle/>
          <a:p>
            <a:pPr marL="0" indent="0">
              <a:buNone/>
            </a:pPr>
            <a:r>
              <a:rPr lang="en-US" sz="3200" b="1" dirty="0"/>
              <a:t> Findings – Objective 1</a:t>
            </a:r>
            <a:endParaRPr lang="en-TZ" sz="3200" b="1" dirty="0"/>
          </a:p>
          <a:p>
            <a:pPr marL="0" indent="0">
              <a:buNone/>
            </a:pPr>
            <a:r>
              <a:rPr lang="en-US" sz="3200" dirty="0"/>
              <a:t>• Collected 4,188 labelled maize leaf images.</a:t>
            </a:r>
            <a:br>
              <a:rPr lang="en-US" sz="3200" dirty="0"/>
            </a:br>
            <a:r>
              <a:rPr lang="en-US" sz="3200" dirty="0"/>
              <a:t>• Four classes: Healthy, Common Rust, Northern Leaf Blight and </a:t>
            </a:r>
            <a:r>
              <a:rPr lang="en-US" sz="3200" dirty="0" err="1"/>
              <a:t>Cercospora</a:t>
            </a:r>
            <a:r>
              <a:rPr lang="en-US" sz="3200" dirty="0"/>
              <a:t> Leaf Spot.</a:t>
            </a:r>
          </a:p>
          <a:p>
            <a:pPr marL="0" indent="0">
              <a:buNone/>
            </a:pPr>
            <a:endParaRPr lang="en-TZ" sz="3200" dirty="0"/>
          </a:p>
          <a:p>
            <a:pPr marL="0" indent="0">
              <a:buNone/>
            </a:pPr>
            <a:endParaRPr lang="en-TZ" sz="3200" dirty="0"/>
          </a:p>
        </p:txBody>
      </p:sp>
    </p:spTree>
    <p:extLst>
      <p:ext uri="{BB962C8B-B14F-4D97-AF65-F5344CB8AC3E}">
        <p14:creationId xmlns:p14="http://schemas.microsoft.com/office/powerpoint/2010/main" val="130724449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3C9696-6606-7BBF-3720-529F47C69E57}"/>
              </a:ext>
            </a:extLst>
          </p:cNvPr>
          <p:cNvSpPr>
            <a:spLocks noGrp="1"/>
          </p:cNvSpPr>
          <p:nvPr>
            <p:ph idx="1"/>
          </p:nvPr>
        </p:nvSpPr>
        <p:spPr/>
        <p:txBody>
          <a:bodyPr/>
          <a:lstStyle/>
          <a:p>
            <a:r>
              <a:rPr lang="en-US" dirty="0"/>
              <a:t>Methodology</a:t>
            </a:r>
            <a:endParaRPr lang="en-TZ" dirty="0"/>
          </a:p>
          <a:p>
            <a:r>
              <a:rPr lang="en-US" dirty="0"/>
              <a:t>Data Preprocessing</a:t>
            </a:r>
            <a:endParaRPr lang="en-TZ" dirty="0"/>
          </a:p>
          <a:p>
            <a:r>
              <a:rPr lang="en-US" dirty="0"/>
              <a:t>Image resizing (128 × 128 pixels)</a:t>
            </a:r>
            <a:endParaRPr lang="en-TZ" dirty="0"/>
          </a:p>
          <a:p>
            <a:r>
              <a:rPr lang="en-US" dirty="0"/>
              <a:t>Normalization</a:t>
            </a:r>
            <a:endParaRPr lang="en-TZ" dirty="0"/>
          </a:p>
          <a:p>
            <a:r>
              <a:rPr lang="en-US" dirty="0"/>
              <a:t>Label encoding</a:t>
            </a:r>
            <a:endParaRPr lang="en-TZ" dirty="0"/>
          </a:p>
          <a:p>
            <a:r>
              <a:rPr lang="en-US" dirty="0"/>
              <a:t>Dataset splitting</a:t>
            </a:r>
            <a:endParaRPr lang="en-TZ" dirty="0"/>
          </a:p>
        </p:txBody>
      </p:sp>
    </p:spTree>
    <p:extLst>
      <p:ext uri="{BB962C8B-B14F-4D97-AF65-F5344CB8AC3E}">
        <p14:creationId xmlns:p14="http://schemas.microsoft.com/office/powerpoint/2010/main" val="961477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75A380-9D2B-11A3-E939-0C57E7061AC8}"/>
              </a:ext>
            </a:extLst>
          </p:cNvPr>
          <p:cNvSpPr>
            <a:spLocks noGrp="1"/>
          </p:cNvSpPr>
          <p:nvPr>
            <p:ph idx="1"/>
          </p:nvPr>
        </p:nvSpPr>
        <p:spPr>
          <a:xfrm>
            <a:off x="1106129" y="661760"/>
            <a:ext cx="8869483" cy="6196240"/>
          </a:xfrm>
        </p:spPr>
        <p:txBody>
          <a:bodyPr>
            <a:normAutofit/>
          </a:bodyPr>
          <a:lstStyle/>
          <a:p>
            <a:r>
              <a:rPr lang="en-US" dirty="0"/>
              <a:t>Model Development</a:t>
            </a:r>
            <a:endParaRPr lang="en-TZ" dirty="0"/>
          </a:p>
          <a:p>
            <a:r>
              <a:rPr lang="en-US" dirty="0"/>
              <a:t>Models Developed</a:t>
            </a:r>
            <a:endParaRPr lang="en-TZ" dirty="0"/>
          </a:p>
          <a:p>
            <a:r>
              <a:rPr lang="en-US" dirty="0"/>
              <a:t>Custom CNN</a:t>
            </a:r>
            <a:endParaRPr lang="en-TZ" dirty="0"/>
          </a:p>
          <a:p>
            <a:r>
              <a:rPr lang="en-US" dirty="0"/>
              <a:t>Built from scratch</a:t>
            </a:r>
            <a:endParaRPr lang="en-TZ" dirty="0"/>
          </a:p>
          <a:p>
            <a:r>
              <a:rPr lang="en-US" dirty="0"/>
              <a:t>Convolution layers</a:t>
            </a:r>
            <a:endParaRPr lang="en-TZ" dirty="0"/>
          </a:p>
          <a:p>
            <a:r>
              <a:rPr lang="en-US" dirty="0"/>
              <a:t>Pooling layers</a:t>
            </a:r>
            <a:endParaRPr lang="en-TZ" dirty="0"/>
          </a:p>
          <a:p>
            <a:r>
              <a:rPr lang="en-US" dirty="0"/>
              <a:t>Dense layers</a:t>
            </a:r>
            <a:endParaRPr lang="en-TZ" dirty="0"/>
          </a:p>
          <a:p>
            <a:r>
              <a:rPr lang="en-US" dirty="0"/>
              <a:t>Dropout layer</a:t>
            </a:r>
            <a:endParaRPr lang="en-TZ" dirty="0"/>
          </a:p>
          <a:p>
            <a:r>
              <a:rPr lang="en-US" dirty="0"/>
              <a:t>ResNet50</a:t>
            </a:r>
            <a:endParaRPr lang="en-TZ" dirty="0"/>
          </a:p>
          <a:p>
            <a:r>
              <a:rPr lang="en-US" dirty="0"/>
              <a:t>Transfer Learning model</a:t>
            </a:r>
            <a:endParaRPr lang="en-TZ" dirty="0"/>
          </a:p>
          <a:p>
            <a:r>
              <a:rPr lang="en-US" dirty="0"/>
              <a:t>Pretrained on ImageNet</a:t>
            </a:r>
            <a:endParaRPr lang="en-TZ" dirty="0"/>
          </a:p>
          <a:p>
            <a:r>
              <a:rPr lang="en-US" dirty="0"/>
              <a:t>Fine-tuned for maize disease classification</a:t>
            </a:r>
            <a:endParaRPr lang="en-TZ" dirty="0"/>
          </a:p>
          <a:p>
            <a:endParaRPr lang="en-TZ" dirty="0"/>
          </a:p>
        </p:txBody>
      </p:sp>
    </p:spTree>
    <p:extLst>
      <p:ext uri="{BB962C8B-B14F-4D97-AF65-F5344CB8AC3E}">
        <p14:creationId xmlns:p14="http://schemas.microsoft.com/office/powerpoint/2010/main" val="2804920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C65A54-B100-EBCB-1ED0-5F8D554D2E59}"/>
              </a:ext>
            </a:extLst>
          </p:cNvPr>
          <p:cNvSpPr>
            <a:spLocks noGrp="1"/>
          </p:cNvSpPr>
          <p:nvPr>
            <p:ph idx="1"/>
          </p:nvPr>
        </p:nvSpPr>
        <p:spPr>
          <a:xfrm>
            <a:off x="2231136" y="1561411"/>
            <a:ext cx="7729728" cy="3101983"/>
          </a:xfrm>
        </p:spPr>
        <p:txBody>
          <a:bodyPr>
            <a:normAutofit fontScale="62500" lnSpcReduction="20000"/>
          </a:bodyPr>
          <a:lstStyle/>
          <a:p>
            <a:r>
              <a:rPr lang="en-US" dirty="0"/>
              <a:t>Workflow</a:t>
            </a:r>
            <a:endParaRPr lang="en-TZ" dirty="0"/>
          </a:p>
          <a:p>
            <a:r>
              <a:rPr lang="en-US" dirty="0"/>
              <a:t>Image Dataset</a:t>
            </a:r>
            <a:endParaRPr lang="en-TZ" dirty="0"/>
          </a:p>
          <a:p>
            <a:r>
              <a:rPr lang="en-US" dirty="0"/>
              <a:t>      ↓</a:t>
            </a:r>
            <a:endParaRPr lang="en-TZ" dirty="0"/>
          </a:p>
          <a:p>
            <a:r>
              <a:rPr lang="en-US" dirty="0"/>
              <a:t>Preprocessing</a:t>
            </a:r>
            <a:endParaRPr lang="en-TZ" dirty="0"/>
          </a:p>
          <a:p>
            <a:r>
              <a:rPr lang="en-US" dirty="0"/>
              <a:t>      ↓</a:t>
            </a:r>
            <a:endParaRPr lang="en-TZ" dirty="0"/>
          </a:p>
          <a:p>
            <a:r>
              <a:rPr lang="en-US" dirty="0"/>
              <a:t>Custom CNN &amp; ResNet50</a:t>
            </a:r>
            <a:endParaRPr lang="en-TZ" dirty="0"/>
          </a:p>
          <a:p>
            <a:r>
              <a:rPr lang="en-US" dirty="0"/>
              <a:t>      ↓</a:t>
            </a:r>
            <a:endParaRPr lang="en-TZ" dirty="0"/>
          </a:p>
          <a:p>
            <a:r>
              <a:rPr lang="en-US" dirty="0"/>
              <a:t>Model Training</a:t>
            </a:r>
            <a:endParaRPr lang="en-TZ" dirty="0"/>
          </a:p>
          <a:p>
            <a:r>
              <a:rPr lang="en-US" dirty="0"/>
              <a:t>      ↓</a:t>
            </a:r>
            <a:endParaRPr lang="en-TZ" dirty="0"/>
          </a:p>
          <a:p>
            <a:r>
              <a:rPr lang="en-US" dirty="0"/>
              <a:t>Model Evaluation</a:t>
            </a:r>
            <a:endParaRPr lang="en-TZ" dirty="0"/>
          </a:p>
          <a:p>
            <a:r>
              <a:rPr lang="en-US" dirty="0"/>
              <a:t>      ↓</a:t>
            </a:r>
            <a:endParaRPr lang="en-TZ" dirty="0"/>
          </a:p>
          <a:p>
            <a:r>
              <a:rPr lang="en-US" dirty="0"/>
              <a:t>Dashboard Deployment</a:t>
            </a:r>
            <a:endParaRPr lang="en-TZ" dirty="0"/>
          </a:p>
          <a:p>
            <a:endParaRPr lang="en-TZ" dirty="0"/>
          </a:p>
        </p:txBody>
      </p:sp>
    </p:spTree>
    <p:extLst>
      <p:ext uri="{BB962C8B-B14F-4D97-AF65-F5344CB8AC3E}">
        <p14:creationId xmlns:p14="http://schemas.microsoft.com/office/powerpoint/2010/main" val="342504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21315-76EE-E286-C343-C83F129C9C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469CDB-4BEA-91B6-11BB-33679823D270}"/>
              </a:ext>
            </a:extLst>
          </p:cNvPr>
          <p:cNvSpPr>
            <a:spLocks noGrp="1"/>
          </p:cNvSpPr>
          <p:nvPr>
            <p:ph idx="1"/>
          </p:nvPr>
        </p:nvSpPr>
        <p:spPr>
          <a:xfrm>
            <a:off x="838200" y="1058709"/>
            <a:ext cx="10515600" cy="4351338"/>
          </a:xfrm>
        </p:spPr>
        <p:txBody>
          <a:bodyPr>
            <a:noAutofit/>
          </a:bodyPr>
          <a:lstStyle/>
          <a:p>
            <a:pPr marL="0" indent="0">
              <a:buNone/>
            </a:pPr>
            <a:r>
              <a:rPr lang="en-US" sz="3600" b="1" dirty="0"/>
              <a:t>Findings – Objective 2</a:t>
            </a:r>
            <a:endParaRPr lang="en-TZ" sz="3600" b="1" dirty="0"/>
          </a:p>
          <a:p>
            <a:pPr marL="0" indent="0">
              <a:buNone/>
            </a:pPr>
            <a:r>
              <a:rPr lang="en-US" sz="3600" dirty="0"/>
              <a:t>• Trained two models: </a:t>
            </a:r>
          </a:p>
          <a:p>
            <a:pPr marL="0" indent="0">
              <a:buNone/>
            </a:pPr>
            <a:r>
              <a:rPr lang="en-US" sz="3600" dirty="0"/>
              <a:t>Custom CNN and ResNet50.</a:t>
            </a:r>
            <a:br>
              <a:rPr lang="en-US" sz="3600" dirty="0"/>
            </a:br>
            <a:r>
              <a:rPr lang="en-US" sz="3600" dirty="0"/>
              <a:t>• Custom CNN outperformed ResNet50 and was selected for deployment.</a:t>
            </a:r>
          </a:p>
          <a:p>
            <a:pPr marL="0" indent="0">
              <a:buNone/>
            </a:pPr>
            <a:endParaRPr lang="en-TZ" sz="3600" dirty="0"/>
          </a:p>
          <a:p>
            <a:pPr marL="0" indent="0">
              <a:buNone/>
            </a:pPr>
            <a:endParaRPr lang="en-TZ" sz="3600" dirty="0"/>
          </a:p>
        </p:txBody>
      </p:sp>
    </p:spTree>
    <p:extLst>
      <p:ext uri="{BB962C8B-B14F-4D97-AF65-F5344CB8AC3E}">
        <p14:creationId xmlns:p14="http://schemas.microsoft.com/office/powerpoint/2010/main" val="523644299"/>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BC71B-786A-1346-0F54-EF0DFDE2AA17}"/>
            </a:ext>
          </a:extLst>
        </p:cNvPr>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462F3DBF-3636-D9DC-B3F9-E860C3F95107}"/>
              </a:ext>
            </a:extLst>
          </p:cNvPr>
          <p:cNvGraphicFramePr>
            <a:graphicFrameLocks noGrp="1"/>
          </p:cNvGraphicFramePr>
          <p:nvPr>
            <p:ph idx="1"/>
            <p:extLst>
              <p:ext uri="{D42A27DB-BD31-4B8C-83A1-F6EECF244321}">
                <p14:modId xmlns:p14="http://schemas.microsoft.com/office/powerpoint/2010/main" val="1572298799"/>
              </p:ext>
            </p:extLst>
          </p:nvPr>
        </p:nvGraphicFramePr>
        <p:xfrm>
          <a:off x="171450" y="133350"/>
          <a:ext cx="12020550" cy="6724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98694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F72D8-C2CB-70E2-F9DF-A2EC548F6CE3}"/>
              </a:ext>
            </a:extLst>
          </p:cNvPr>
          <p:cNvSpPr>
            <a:spLocks noGrp="1"/>
          </p:cNvSpPr>
          <p:nvPr>
            <p:ph idx="1"/>
          </p:nvPr>
        </p:nvSpPr>
        <p:spPr>
          <a:xfrm>
            <a:off x="2231136" y="1030470"/>
            <a:ext cx="7729728" cy="3101983"/>
          </a:xfrm>
        </p:spPr>
        <p:txBody>
          <a:bodyPr/>
          <a:lstStyle/>
          <a:p>
            <a:r>
              <a:rPr lang="en-US" dirty="0"/>
              <a:t>: Confusion Matrix Findings</a:t>
            </a:r>
            <a:endParaRPr lang="en-TZ" dirty="0"/>
          </a:p>
          <a:p>
            <a:r>
              <a:rPr lang="en-US" dirty="0"/>
              <a:t>The confusion matrix showed:</a:t>
            </a:r>
            <a:endParaRPr lang="en-TZ" dirty="0"/>
          </a:p>
          <a:p>
            <a:r>
              <a:rPr lang="en-US" dirty="0"/>
              <a:t>Most disease classes were correctly classified.</a:t>
            </a:r>
            <a:endParaRPr lang="en-TZ" dirty="0"/>
          </a:p>
          <a:p>
            <a:r>
              <a:rPr lang="en-US" dirty="0"/>
              <a:t>Common Rust and Gray Leaf Spot occasionally showed misclassification.</a:t>
            </a:r>
            <a:endParaRPr lang="en-TZ" dirty="0"/>
          </a:p>
          <a:p>
            <a:r>
              <a:rPr lang="en-US" dirty="0"/>
              <a:t>Healthy leaves were accurately recognized.</a:t>
            </a:r>
            <a:endParaRPr lang="en-TZ" dirty="0"/>
          </a:p>
          <a:p>
            <a:r>
              <a:rPr lang="en-US" dirty="0"/>
              <a:t>Interpretation</a:t>
            </a:r>
            <a:endParaRPr lang="en-TZ" dirty="0"/>
          </a:p>
          <a:p>
            <a:r>
              <a:rPr lang="en-US" dirty="0"/>
              <a:t>The model learned disease patterns effectively and achieved strong classification performance.</a:t>
            </a:r>
            <a:endParaRPr lang="en-TZ" dirty="0"/>
          </a:p>
          <a:p>
            <a:endParaRPr lang="en-TZ" dirty="0"/>
          </a:p>
        </p:txBody>
      </p:sp>
    </p:spTree>
    <p:extLst>
      <p:ext uri="{BB962C8B-B14F-4D97-AF65-F5344CB8AC3E}">
        <p14:creationId xmlns:p14="http://schemas.microsoft.com/office/powerpoint/2010/main" val="2132752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C6970-5DB3-D58A-5B7C-AA16D732BC43}"/>
            </a:ext>
          </a:extLst>
        </p:cNvPr>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CA9CC282-0B0E-BC0F-A8CF-3AD32BFB957A}"/>
              </a:ext>
            </a:extLst>
          </p:cNvPr>
          <p:cNvGraphicFramePr>
            <a:graphicFrameLocks noGrp="1"/>
          </p:cNvGraphicFramePr>
          <p:nvPr>
            <p:ph idx="1"/>
            <p:extLst>
              <p:ext uri="{D42A27DB-BD31-4B8C-83A1-F6EECF244321}">
                <p14:modId xmlns:p14="http://schemas.microsoft.com/office/powerpoint/2010/main" val="3873071006"/>
              </p:ext>
            </p:extLst>
          </p:nvPr>
        </p:nvGraphicFramePr>
        <p:xfrm>
          <a:off x="0" y="0"/>
          <a:ext cx="12192000" cy="68580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62416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779E6-C316-1A7B-FFFC-5E464D1F1B02}"/>
            </a:ext>
          </a:extLst>
        </p:cNvPr>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D7F8DE25-859D-75D0-AF78-9059E65F628D}"/>
              </a:ext>
            </a:extLst>
          </p:cNvPr>
          <p:cNvGraphicFramePr>
            <a:graphicFrameLocks noGrp="1"/>
          </p:cNvGraphicFramePr>
          <p:nvPr>
            <p:ph idx="1"/>
            <p:extLst>
              <p:ext uri="{D42A27DB-BD31-4B8C-83A1-F6EECF244321}">
                <p14:modId xmlns:p14="http://schemas.microsoft.com/office/powerpoint/2010/main" val="153838800"/>
              </p:ext>
            </p:extLst>
          </p:nvPr>
        </p:nvGraphicFramePr>
        <p:xfrm>
          <a:off x="0" y="1"/>
          <a:ext cx="12192001"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8889354"/>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5DD7-1726-5578-8763-B0513C30520A}"/>
            </a:ext>
          </a:extLst>
        </p:cNvPr>
        <p:cNvGrpSpPr/>
        <p:nvPr/>
      </p:nvGrpSpPr>
      <p:grpSpPr>
        <a:xfrm>
          <a:off x="0" y="0"/>
          <a:ext cx="0" cy="0"/>
          <a:chOff x="0" y="0"/>
          <a:chExt cx="0" cy="0"/>
        </a:xfrm>
      </p:grpSpPr>
      <p:pic>
        <p:nvPicPr>
          <p:cNvPr id="5" name="Picture 4" descr="Wood human figure">
            <a:extLst>
              <a:ext uri="{FF2B5EF4-FFF2-40B4-BE49-F238E27FC236}">
                <a16:creationId xmlns:a16="http://schemas.microsoft.com/office/drawing/2014/main" id="{5B32FD97-F8F7-F5D8-E4E8-5A3AC388A0F3}"/>
              </a:ext>
            </a:extLst>
          </p:cNvPr>
          <p:cNvPicPr>
            <a:picLocks noChangeAspect="1"/>
          </p:cNvPicPr>
          <p:nvPr/>
        </p:nvPicPr>
        <p:blipFill>
          <a:blip r:embed="rId2"/>
          <a:srcRect l="2152" r="52725" b="-1"/>
          <a:stretch>
            <a:fillRect/>
          </a:stretch>
        </p:blipFill>
        <p:spPr>
          <a:xfrm>
            <a:off x="20" y="10"/>
            <a:ext cx="4635987" cy="6857990"/>
          </a:xfrm>
          <a:prstGeom prst="rect">
            <a:avLst/>
          </a:prstGeom>
        </p:spPr>
      </p:pic>
      <p:sp>
        <p:nvSpPr>
          <p:cNvPr id="3" name="Content Placeholder 2">
            <a:extLst>
              <a:ext uri="{FF2B5EF4-FFF2-40B4-BE49-F238E27FC236}">
                <a16:creationId xmlns:a16="http://schemas.microsoft.com/office/drawing/2014/main" id="{590C7214-BBD9-3B4B-E82B-86BD7D388059}"/>
              </a:ext>
            </a:extLst>
          </p:cNvPr>
          <p:cNvSpPr>
            <a:spLocks noGrp="1"/>
          </p:cNvSpPr>
          <p:nvPr>
            <p:ph idx="1"/>
          </p:nvPr>
        </p:nvSpPr>
        <p:spPr>
          <a:xfrm>
            <a:off x="4927471" y="2096064"/>
            <a:ext cx="6340085" cy="3695136"/>
          </a:xfrm>
        </p:spPr>
        <p:txBody>
          <a:bodyPr>
            <a:normAutofit/>
          </a:bodyPr>
          <a:lstStyle/>
          <a:p>
            <a:pPr marL="0" indent="0" algn="ctr">
              <a:buNone/>
            </a:pPr>
            <a:r>
              <a:rPr lang="en-US" sz="4000" b="1" dirty="0">
                <a:solidFill>
                  <a:schemeClr val="tx1"/>
                </a:solidFill>
              </a:rPr>
              <a:t>Thank You</a:t>
            </a:r>
          </a:p>
          <a:p>
            <a:pPr marL="0" indent="0" algn="ctr">
              <a:buNone/>
            </a:pPr>
            <a:br>
              <a:rPr lang="en-US" sz="4000" b="1" dirty="0">
                <a:solidFill>
                  <a:schemeClr val="tx1"/>
                </a:solidFill>
              </a:rPr>
            </a:br>
            <a:r>
              <a:rPr lang="en-US" sz="4000" b="1" dirty="0">
                <a:solidFill>
                  <a:schemeClr val="tx1"/>
                </a:solidFill>
              </a:rPr>
              <a:t>F</a:t>
            </a:r>
            <a:r>
              <a:rPr lang="en-US" sz="4000" b="1" dirty="0"/>
              <a:t>or listening. We welcome your questions and comments."</a:t>
            </a:r>
            <a:endParaRPr lang="en-TZ" sz="4000" b="1" dirty="0"/>
          </a:p>
          <a:p>
            <a:pPr marL="0" indent="0" algn="ctr">
              <a:buNone/>
            </a:pPr>
            <a:endParaRPr lang="en-TZ" sz="4000" b="1" dirty="0">
              <a:solidFill>
                <a:schemeClr val="tx1"/>
              </a:solidFill>
            </a:endParaRPr>
          </a:p>
        </p:txBody>
      </p:sp>
    </p:spTree>
    <p:extLst>
      <p:ext uri="{BB962C8B-B14F-4D97-AF65-F5344CB8AC3E}">
        <p14:creationId xmlns:p14="http://schemas.microsoft.com/office/powerpoint/2010/main" val="291535618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TM03457485[[fn=Mesh]]</Template>
  <TotalTime>928</TotalTime>
  <Words>631</Words>
  <Application>Microsoft Office PowerPoint</Application>
  <PresentationFormat>Widescreen</PresentationFormat>
  <Paragraphs>73</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Gill Sans MT</vt:lpstr>
      <vt:lpstr>Parcel</vt:lpstr>
      <vt:lpstr>Title     TITLE:  Developing a Predictive Deep Learning Model for the Early Detection of Maize Leaf Diseases in Tanzania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Anne</dc:creator>
  <cp:lastModifiedBy>moshi kassim</cp:lastModifiedBy>
  <cp:revision>4</cp:revision>
  <dcterms:created xsi:type="dcterms:W3CDTF">2026-07-15T09:13:42Z</dcterms:created>
  <dcterms:modified xsi:type="dcterms:W3CDTF">2026-07-17T03:02:22Z</dcterms:modified>
</cp:coreProperties>
</file>