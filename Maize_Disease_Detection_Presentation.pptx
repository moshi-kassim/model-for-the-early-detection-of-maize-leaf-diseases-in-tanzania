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2559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3366"/>
                </a:solidFill>
                <a:latin typeface="Calibri"/>
              </a:defRPr>
            </a:pPr>
            <a:r>
              <a:rPr dirty="0"/>
              <a:t>Developing a Predictive Deep Learning Model for the Early Detection of Maize Leaf Diseases in Tanzania</a:t>
            </a:r>
          </a:p>
          <a:p>
            <a:pPr algn="ctr">
              <a:spcBef>
                <a:spcPts val="24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rPr dirty="0"/>
              <a:t>Eastern Africa Statistical Training Centre</a:t>
            </a:r>
          </a:p>
          <a:p>
            <a:pPr algn="ctr">
              <a:spcBef>
                <a:spcPts val="1800"/>
              </a:spcBef>
              <a:defRPr sz="1400">
                <a:solidFill>
                  <a:srgbClr val="505050"/>
                </a:solidFill>
                <a:latin typeface="Calibri"/>
              </a:defRPr>
            </a:pPr>
            <a:r>
              <a:rPr dirty="0"/>
              <a:t>Severia M. Banda | Moshi M. Kassim | Gidion F. </a:t>
            </a:r>
            <a:r>
              <a:rPr dirty="0" err="1"/>
              <a:t>Machumu</a:t>
            </a:r>
            <a:r>
              <a:rPr dirty="0"/>
              <a:t> | Rebeca P. Shauri | Edgar S. </a:t>
            </a:r>
            <a:r>
              <a:rPr dirty="0" err="1"/>
              <a:t>Materu</a:t>
            </a:r>
            <a:endParaRPr dirty="0"/>
          </a:p>
          <a:p>
            <a:pPr algn="ctr">
              <a:spcBef>
                <a:spcPts val="800"/>
              </a:spcBef>
              <a:defRPr sz="1400">
                <a:solidFill>
                  <a:srgbClr val="505050"/>
                </a:solidFill>
                <a:latin typeface="Calibri"/>
              </a:defRPr>
            </a:pPr>
            <a:r>
              <a:rPr dirty="0"/>
              <a:t>Bachelor of Data Science, Year III | Academic Year 2025/2026</a:t>
            </a:r>
          </a:p>
          <a:p>
            <a:pPr algn="ctr">
              <a:spcBef>
                <a:spcPts val="800"/>
              </a:spcBef>
              <a:defRPr sz="1400">
                <a:solidFill>
                  <a:srgbClr val="505050"/>
                </a:solidFill>
                <a:latin typeface="Calibri"/>
              </a:defRPr>
            </a:pPr>
            <a:r>
              <a:rPr dirty="0"/>
              <a:t>Supervisor: Mr</a:t>
            </a:r>
            <a:r>
              <a:rPr lang="en-US" dirty="0"/>
              <a:t>. </a:t>
            </a:r>
            <a:r>
              <a:rPr dirty="0"/>
              <a:t>Kelvin </a:t>
            </a:r>
            <a:r>
              <a:rPr dirty="0" err="1"/>
              <a:t>R</a:t>
            </a:r>
            <a:r>
              <a:rPr lang="en-US" dirty="0" err="1"/>
              <a:t>we</a:t>
            </a:r>
            <a:r>
              <a:rPr dirty="0" err="1"/>
              <a:t>shobo</a:t>
            </a:r>
            <a:r>
              <a:rPr lang="en-US" dirty="0" err="1"/>
              <a:t>r</a:t>
            </a:r>
            <a:r>
              <a:rPr dirty="0" err="1"/>
              <a:t>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402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Maize is the primary staple crop in Tanzania and is highly vulnerable to foliar diseases.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Common Rust, Northern Leaf Blight and </a:t>
            </a:r>
            <a:r>
              <a:rPr lang="en-US" dirty="0"/>
              <a:t> Gray(</a:t>
            </a:r>
            <a:r>
              <a:rPr dirty="0" err="1"/>
              <a:t>Cercospora</a:t>
            </a:r>
            <a:r>
              <a:rPr lang="en-US" dirty="0"/>
              <a:t>)</a:t>
            </a:r>
            <a:r>
              <a:rPr dirty="0"/>
              <a:t> Leaf Spot can cause substantial yield losses if not detected early.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Current diagnosis depends on manual field scouting and extension officers, which is slow and limited by staff shortages.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Convolutional Neural Networks can learn disease patterns from labelled leaf images and support automated classification.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This project develops and evaluates such a model for maize leaf disease detection.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General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1817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/>
              <a:t>To develop a deep learning image classification model capable of automatically identifying and diagnosing </a:t>
            </a:r>
            <a:r>
              <a:rPr lang="en-US" dirty="0"/>
              <a:t>three</a:t>
            </a:r>
            <a:r>
              <a:rPr dirty="0"/>
              <a:t> maize leaf diseases</a:t>
            </a:r>
            <a:r>
              <a:rPr lang="en-US" dirty="0"/>
              <a:t> , Common Rust, Northern Leaf Blight and  Gray Leaf Spot </a:t>
            </a:r>
            <a:r>
              <a:rPr dirty="0"/>
              <a:t>, and to deploy the model in </a:t>
            </a:r>
            <a:r>
              <a:rPr lang="en-US" dirty="0"/>
              <a:t>web app </a:t>
            </a:r>
            <a:r>
              <a:rPr dirty="0"/>
              <a:t>for real-time diagnosis.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Specific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056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/>
              <a:t>Source a standardized dataset of healthy and diseased maize leaf images.</a:t>
            </a:r>
          </a:p>
          <a:p>
            <a:pPr marL="342900" indent="-34290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/>
              <a:t>Train Convolutional Neural Network models for classifying distinct maize foliar diseases.</a:t>
            </a:r>
          </a:p>
          <a:p>
            <a:pPr marL="342900" indent="-34290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/>
              <a:t>Evaluate predictive performance using accuracy, precision, recall, F1-score, and confusion matrix.</a:t>
            </a:r>
          </a:p>
          <a:p>
            <a:pPr marL="342900" indent="-342900">
              <a:lnSpc>
                <a:spcPct val="115000"/>
              </a:lnSpc>
              <a:spcAft>
                <a:spcPts val="419"/>
              </a:spcAft>
              <a:buFont typeface="Arial" panose="020B0604020202020204" pitchFamily="34" charset="0"/>
              <a:buChar char="•"/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/>
              <a:t>Deploy the selected model in an interactive graphical interface for real-time image diagnosis.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/>
              <a:t>What image preprocessing techniques are required to prepare raw leaf data for deep learning?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/>
              <a:t>How accurately can a Convolutional Neural Network classify different maize leaf disease classes?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/>
              <a:t>How can the predictive model be deployed to accept new images and output diagnostic confidence scores?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Methodology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Approach: Predictive analytics and computer vision using supervised image classification.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Data source: </a:t>
            </a:r>
            <a:r>
              <a:rPr dirty="0" err="1"/>
              <a:t>PlantVillage</a:t>
            </a:r>
            <a:r>
              <a:rPr dirty="0"/>
              <a:t> maize subset (4,188 labelled RGB images).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Development environment: Python 3.10+, TensorFlow/</a:t>
            </a:r>
            <a:r>
              <a:rPr dirty="0" err="1"/>
              <a:t>Keras</a:t>
            </a:r>
            <a:r>
              <a:rPr dirty="0"/>
              <a:t>, OpenCV, scikit-learn.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Workflow: Data acquisition, preprocessing, model training, evaluation, model selection, deployment.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Two architectures were compared: a Custom CNN and ResNet50 transfer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Dataset and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Four disease classes: Healthy, Common Rust, Northern Leaf Blight, </a:t>
            </a:r>
            <a:r>
              <a:rPr dirty="0" err="1"/>
              <a:t>Cercospora</a:t>
            </a:r>
            <a:r>
              <a:rPr dirty="0"/>
              <a:t> Leaf Spot.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Total sample: 4,188 images from the </a:t>
            </a:r>
            <a:r>
              <a:rPr dirty="0" err="1"/>
              <a:t>PlantVillage</a:t>
            </a:r>
            <a:r>
              <a:rPr dirty="0"/>
              <a:t> repository.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Stratified random split to preserve class proportions across sets.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926080"/>
          <a:ext cx="76809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2,931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628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/>
                        <a:t>4,188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/>
                        <a:t>100%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19590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b="1" dirty="0"/>
              <a:t>Resizing:</a:t>
            </a:r>
            <a:r>
              <a:rPr lang="en-US" b="1" dirty="0"/>
              <a:t> </a:t>
            </a:r>
            <a:r>
              <a:rPr b="1" dirty="0"/>
              <a:t> </a:t>
            </a:r>
            <a:r>
              <a:rPr dirty="0"/>
              <a:t>All images resized to 128 x 128 pixels.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b="1" dirty="0" err="1"/>
              <a:t>Colour</a:t>
            </a:r>
            <a:r>
              <a:rPr b="1" dirty="0"/>
              <a:t> conversion: </a:t>
            </a:r>
            <a:r>
              <a:rPr dirty="0"/>
              <a:t>RGB converted to BGR to match the training pipeline.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b="1" dirty="0"/>
              <a:t>Normalization: </a:t>
            </a:r>
            <a:r>
              <a:rPr dirty="0"/>
              <a:t>Pixel values scaled from 0 to 255 down to the range 0 to 1.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b="1" dirty="0"/>
              <a:t>Batch formatting</a:t>
            </a:r>
            <a:r>
              <a:rPr dirty="0"/>
              <a:t>: Input tensor shape (1, 128, 128, 3) for model inference.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Data augmentation was applied during training to reduce overfitting.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Model 1: Custom CNN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Input layer: 128 x 128 x 3</a:t>
            </a:r>
          </a:p>
          <a:p>
            <a:pPr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Block 1: Conv2D(32) + Conv2D(32) + </a:t>
            </a:r>
            <a:r>
              <a:rPr dirty="0" err="1"/>
              <a:t>MaxPooling</a:t>
            </a:r>
            <a:r>
              <a:rPr dirty="0"/>
              <a:t> + Dropout</a:t>
            </a:r>
          </a:p>
          <a:p>
            <a:pPr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Block 2: Conv2D(64) + Conv2D(64) + </a:t>
            </a:r>
            <a:r>
              <a:rPr dirty="0" err="1"/>
              <a:t>MaxPooling</a:t>
            </a:r>
            <a:r>
              <a:rPr dirty="0"/>
              <a:t> + Dropout</a:t>
            </a:r>
          </a:p>
          <a:p>
            <a:pPr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Block 3: Conv2D(128) + </a:t>
            </a:r>
            <a:r>
              <a:rPr dirty="0" err="1"/>
              <a:t>MaxPooling</a:t>
            </a:r>
            <a:r>
              <a:rPr dirty="0"/>
              <a:t> + Dropout</a:t>
            </a:r>
          </a:p>
          <a:p>
            <a:pPr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Classifier: Flatten + Dense(256) + Dropout + Dense(4, </a:t>
            </a:r>
            <a:r>
              <a:rPr dirty="0" err="1"/>
              <a:t>softmax</a:t>
            </a:r>
            <a:r>
              <a:rPr dirty="0"/>
              <a:t>)</a:t>
            </a:r>
          </a:p>
          <a:p>
            <a:pPr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Optimizer: Adam | Loss: Sparse Categorical Cross-Entropy</a:t>
            </a:r>
          </a:p>
          <a:p>
            <a:pPr>
              <a:lnSpc>
                <a:spcPct val="115000"/>
              </a:lnSpc>
              <a:spcAft>
                <a:spcPts val="264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Training: 25 epochs, batch size 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Model 2: ResNet50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Transfer learning using ResNet50 pre-trained on ImageNet.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Base layers frozen; only the classification head was trained.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Classification head: </a:t>
            </a:r>
            <a:r>
              <a:rPr dirty="0" err="1"/>
              <a:t>GlobalAveragePooling</a:t>
            </a:r>
            <a:r>
              <a:rPr dirty="0"/>
              <a:t> + Dense(256) + Dense(128) + Dense(4).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Optimizer: Adam with learning rate 0.0001.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Training: 100 epochs on the same dataset split.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Purpose: Benchmark comparison against the task-specific Custom CNN.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Model Training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25599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Training performed on 2,931 images with validation monitoring during each epoch.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Validation set (628 images) used to track loss and accuracy during training.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Final evaluation conducted on a held-out test set of 629 images.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Test images were not used during training or hyperparameter decisions.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Metrics recorded: accuracy, loss, precision, recall, F1-score, and confusion matrix.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Model Comparison and Selection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Loss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Selected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/>
                        <a:t>Custom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92.37%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0.3725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/>
                        <a:t>ResNet50 (frozen)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77.42%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0.5277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9184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The Custom CNN outperformed the frozen ResNet50 baseline on the same test set. For this four-class problem with approximately 4,000 images, a task-specific architecture learned maize disease features more effectively than a general pre-trained network with frozen layers.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Findings: Overall 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Custom CNN achieved 92.37% test accuracy on 629 unseen images.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Healthy and Common Rust classes were classified with near-perfect performance.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Northern Leaf Blight showed strong recall (0.94) with moderate precision (0.83).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Cercospora</a:t>
            </a:r>
            <a:r>
              <a:rPr dirty="0"/>
              <a:t> Leaf Spot was the most challenging class (recall 0.65).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Results confirm that deep learning can classify maize foliar diseases from digital images.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Findings: Per-Class Performance (Custom CNN)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76809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Common 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Northern Leaf Blight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 err="1"/>
                        <a:t>Cercospora</a:t>
                      </a:r>
                      <a:r>
                        <a:rPr dirty="0"/>
                        <a:t> Leaf Spot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dirty="0"/>
                        <a:t>0.74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The main classification error was confusion between Cercospora Leaf Spot and Northern Leaf Blight, consistent with visual similarity in lesion appearance.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Findings: Confusion Matrix (Test Set)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768096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\ Predicted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NLB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Rust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Northern Leaf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Common Rust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188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Cercospora Leaf Spot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175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29875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Results align with prior plant disease studies using deep learning on </a:t>
            </a:r>
            <a:r>
              <a:rPr dirty="0" err="1"/>
              <a:t>PlantVillage</a:t>
            </a:r>
            <a:r>
              <a:rPr dirty="0"/>
              <a:t> data.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A simpler Custom CNN exceeded a frozen ResNet50, suggesting domain-specific architectures can be effective at this dataset scale.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Strong performance on Healthy and Common Rust supports reliable detection of clear symptom patterns.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Lower recall for </a:t>
            </a:r>
            <a:r>
              <a:rPr lang="en-US" dirty="0"/>
              <a:t>Gray</a:t>
            </a:r>
            <a:r>
              <a:rPr dirty="0"/>
              <a:t> Leaf Spot indicates need for additional training samples and augmentation.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Laboratory accuracy (92.37%) is competitive, though field validation on Tanzanian farm images remains necessary.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22440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Dataset images originate from controlled </a:t>
            </a:r>
            <a:r>
              <a:rPr dirty="0" err="1"/>
              <a:t>PlantVillage</a:t>
            </a:r>
            <a:r>
              <a:rPr dirty="0"/>
              <a:t> conditions, not Tanzanian field environments.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Input resolution of 128 x 128 pixels may reduce fine lesion detail.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Cercospora</a:t>
            </a:r>
            <a:r>
              <a:rPr dirty="0"/>
              <a:t> Leaf Spot classification requires further improvement.</a:t>
            </a:r>
          </a:p>
          <a:p>
            <a:pPr>
              <a:lnSpc>
                <a:spcPct val="115000"/>
              </a:lnSpc>
              <a:spcAft>
                <a:spcPts val="419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rPr dirty="0"/>
              <a:t>Model performance under varied lighting, backgrounds and camera quality has not yet been validated in the field.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rPr lang="en-US" dirty="0"/>
              <a:t>Recommendation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Calibri"/>
              </a:defRPr>
            </a:pPr>
            <a:r>
              <a:t>Thank You</a:t>
            </a:r>
          </a:p>
          <a:p>
            <a:pPr algn="ctr">
              <a:spcBef>
                <a:spcPts val="1600"/>
              </a:spcBef>
              <a:defRPr sz="2000">
                <a:solidFill>
                  <a:srgbClr val="505050"/>
                </a:solidFill>
                <a:latin typeface="Calibri"/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1111</Words>
  <Application>Microsoft Office PowerPoint</Application>
  <PresentationFormat>On-screen Show (4:3)</PresentationFormat>
  <Paragraphs>156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MAFTAHA</dc:creator>
  <cp:keywords/>
  <dc:description>generated using python-pptx</dc:description>
  <cp:lastModifiedBy>moshi kassim</cp:lastModifiedBy>
  <cp:revision>2</cp:revision>
  <dcterms:created xsi:type="dcterms:W3CDTF">2013-01-27T09:14:16Z</dcterms:created>
  <dcterms:modified xsi:type="dcterms:W3CDTF">2026-07-17T02:14:48Z</dcterms:modified>
  <cp:category/>
</cp:coreProperties>
</file>