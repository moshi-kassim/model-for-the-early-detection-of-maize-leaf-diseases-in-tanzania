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85397-DB5C-439F-B1F7-9DF8B61C6646}" type="datetimeFigureOut">
              <a:rPr lang="en-TZ" smtClean="0"/>
              <a:t>17/07/2026</a:t>
            </a:fld>
            <a:endParaRPr lang="en-T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3E041-4AAB-40A1-A3E0-CB5A0E45DB71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23311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3E041-4AAB-40A1-A3E0-CB5A0E45DB71}" type="slidenum">
              <a:rPr lang="en-TZ" smtClean="0"/>
              <a:t>6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503110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2559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Predictive Deep Learning Model for the Early Detection of Maize Leaf Diseases in Tanzania</a:t>
            </a:r>
          </a:p>
          <a:p>
            <a:pPr algn="ctr">
              <a:spcBef>
                <a:spcPts val="24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Eastern Africa Statistical Training Centre</a:t>
            </a:r>
          </a:p>
          <a:p>
            <a:pPr algn="ctr">
              <a:spcBef>
                <a:spcPts val="1800"/>
              </a:spcBef>
              <a:defRPr sz="1400">
                <a:solidFill>
                  <a:srgbClr val="50505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Severia M. Banda | Moshi M. Kassim | Gidion F.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Machumu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Rebeca P. Shauri | Edgar S.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800"/>
              </a:spcBef>
              <a:defRPr sz="1400">
                <a:solidFill>
                  <a:srgbClr val="50505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 of Data Science, Year III | Academic Year 2025/2026</a:t>
            </a:r>
          </a:p>
          <a:p>
            <a:pPr algn="ctr">
              <a:spcBef>
                <a:spcPts val="800"/>
              </a:spcBef>
              <a:defRPr sz="1400">
                <a:solidFill>
                  <a:srgbClr val="50505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Mr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Kelvin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shobo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rPr dirty="0"/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402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Maize is the primary staple crop in Tanzania and is highly vulnerable to foliar diseases.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Rust, Northern Leaf Blight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Gray(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Cercospora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Leaf Spot can cause substantial yield losses if not detected early.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diagnosis depends on manual field scouting and extension officers, which is slow and limited by staff shortages.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can learn disease patterns from labelled leaf images and support automated classification.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and evaluates such a model for maize leaf disease detection.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General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97065"/>
            <a:ext cx="7955280" cy="1817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 learning image classification model capable of automatically identifying and diagnosing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maize leaf diseases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Common Rust, Northern Leaf Blight and  Gray Leaf Spot.</a:t>
            </a:r>
          </a:p>
          <a:p>
            <a:pPr>
              <a:lnSpc>
                <a:spcPct val="130000"/>
              </a:lnSpc>
              <a:defRPr sz="2200">
                <a:solidFill>
                  <a:srgbClr val="212121"/>
                </a:solidFill>
                <a:latin typeface="Calibri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Specific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9304"/>
            <a:ext cx="7863840" cy="55320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2000">
                <a:solidFill>
                  <a:srgbClr val="212121"/>
                </a:solidFill>
                <a:latin typeface="Calibri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 sourced dataset of healthy and diseased maize leaf images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2000">
                <a:solidFill>
                  <a:srgbClr val="212121"/>
                </a:solidFill>
                <a:latin typeface="Calibri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train Convolutional Neural Network (CNN) models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predictive performance using accuracy, precision, recall, F1-score, and confusion matrix.</a:t>
            </a:r>
          </a:p>
          <a:p>
            <a:pPr marL="342900" indent="-34290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selected model in an interactive graphical interface for real-time image diagnosis.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419"/>
              </a:spcAft>
              <a:defRPr sz="2000">
                <a:solidFill>
                  <a:srgbClr val="212121"/>
                </a:solidFill>
                <a:latin typeface="Calibri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419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used: Disease Class Images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Blight		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1146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Common Rust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1306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Gray Leaf Spot	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574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Healthy		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1162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Images:	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4,188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rPr dirty="0"/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0467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image preprocessing techniques are required to prepare raw leaf data for deep learning?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12121"/>
                </a:solidFill>
                <a:latin typeface="Calibri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CNN architecture performs best?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12121"/>
                </a:solidFill>
                <a:latin typeface="Calibri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accurately can the CNN classify maize leaf diseases?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the model be deployed for real-time diagnosis?</a:t>
            </a:r>
            <a:endParaRPr lang="en-T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rPr dirty="0"/>
              <a:t>Methodology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466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and computer vision using supervised image classification.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maize subset (4,188 labelled RGB images).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3.10+, TensorFlow/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OpenCV, scikit-learn.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acquisition, preprocessing, model training, evaluation, model selection, deployment.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architectures were compared: a Custom CNN and ResNet50 transfer learning.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rPr lang="en-US" sz="2800" dirty="0"/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7908"/>
            <a:ext cx="7863840" cy="19590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images resized to 128 x 128 pixels.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conversion: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converted to BGR to match the training pipeline.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values scaled from 0 to 255 down to the range 0 to 1.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formatting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Input tensor shape (1, 128, 128, 3) for model inference.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was applied during training to reduce overfitting.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rPr dirty="0"/>
              <a:t>Dataset and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36694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disease classes: Healthy, Common Rust, Northern Leaf Blight,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Cercospora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Leaf Spot.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Northern Leaf Blight      Common Rust           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Cercospora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Leaf Spot             Healthy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sample: 4,188 images from the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repository.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random split to preserve class proportions across sets.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120848"/>
              </p:ext>
            </p:extLst>
          </p:nvPr>
        </p:nvGraphicFramePr>
        <p:xfrm>
          <a:off x="640080" y="4625501"/>
          <a:ext cx="76809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2,931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628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4,188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100%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5226E4A-9204-3F1A-8977-5698BB300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41038"/>
            <a:ext cx="1615416" cy="1422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FE823B-FCD0-110A-13D0-09228230B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706" y="2041038"/>
            <a:ext cx="1708700" cy="13807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F9E344-962C-A77B-4434-C4C15BF87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800" y="2041039"/>
            <a:ext cx="1640351" cy="1380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5D397E-C25B-F6AA-649B-B3553D8A6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742" y="2034989"/>
            <a:ext cx="1386816" cy="13868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rPr lang="en-US" dirty="0"/>
              <a:t>Workflow</a:t>
            </a:r>
            <a:endParaRPr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130D00-1657-9433-F32A-CE8F453C35E6}"/>
              </a:ext>
            </a:extLst>
          </p:cNvPr>
          <p:cNvSpPr/>
          <p:nvPr/>
        </p:nvSpPr>
        <p:spPr>
          <a:xfrm>
            <a:off x="3346704" y="1453896"/>
            <a:ext cx="2468880" cy="42976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Z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2AAC6E-2C84-A72A-9DAD-A96FAE8F6FB5}"/>
              </a:ext>
            </a:extLst>
          </p:cNvPr>
          <p:cNvSpPr/>
          <p:nvPr/>
        </p:nvSpPr>
        <p:spPr>
          <a:xfrm>
            <a:off x="3744468" y="2122932"/>
            <a:ext cx="1655064" cy="3566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Z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866887-5812-7F4E-58BD-EB3B92BE1185}"/>
              </a:ext>
            </a:extLst>
          </p:cNvPr>
          <p:cNvSpPr/>
          <p:nvPr/>
        </p:nvSpPr>
        <p:spPr>
          <a:xfrm>
            <a:off x="3378708" y="2718816"/>
            <a:ext cx="2386584" cy="3566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Z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E347746-4C27-179F-D1E6-C13D22A2D8E2}"/>
              </a:ext>
            </a:extLst>
          </p:cNvPr>
          <p:cNvSpPr/>
          <p:nvPr/>
        </p:nvSpPr>
        <p:spPr>
          <a:xfrm>
            <a:off x="3685032" y="3409251"/>
            <a:ext cx="1728216" cy="3566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Z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6FE8B20-3FEE-BBF2-221B-41E2CF8C445F}"/>
              </a:ext>
            </a:extLst>
          </p:cNvPr>
          <p:cNvSpPr/>
          <p:nvPr/>
        </p:nvSpPr>
        <p:spPr>
          <a:xfrm>
            <a:off x="3685032" y="4057556"/>
            <a:ext cx="1769364" cy="3566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Z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F4128A1-0A77-9EF3-5338-84CD5FAA4BD8}"/>
              </a:ext>
            </a:extLst>
          </p:cNvPr>
          <p:cNvSpPr/>
          <p:nvPr/>
        </p:nvSpPr>
        <p:spPr>
          <a:xfrm>
            <a:off x="3435096" y="4855735"/>
            <a:ext cx="2298192" cy="3566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Z"/>
          </a:p>
        </p:txBody>
      </p:sp>
      <p:sp>
        <p:nvSpPr>
          <p:cNvPr id="4" name="TextBox 3"/>
          <p:cNvSpPr txBox="1"/>
          <p:nvPr/>
        </p:nvSpPr>
        <p:spPr>
          <a:xfrm>
            <a:off x="617220" y="1440911"/>
            <a:ext cx="7863840" cy="37687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Dataset</a:t>
            </a:r>
          </a:p>
          <a:p>
            <a:pPr algn="ctr"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algn="ctr"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algn="ctr"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 &amp; ResNet50</a:t>
            </a:r>
          </a:p>
          <a:p>
            <a:pPr algn="ctr"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algn="ctr"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algn="ctr"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algn="ctr"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algn="ctr"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algn="ctr"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Deployment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Model Training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234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performed on 2,931 images with validation monitoring during each epoch.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 (628 images) used to track loss and accuracy during training.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evaluation conducted on a held-out test set of 629 images.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images were not used during training.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recorded: accuracy, loss, precision, recall, F1-score, and confusion matrix.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Model Comparison and Selection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Loss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Selected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Custom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92.37%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0.3725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ResNet50 (frozen)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77.42%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0.5277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538728"/>
            <a:ext cx="7680960" cy="186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custom CNN was Selected.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 CNN achieved 92.37% test accuracy, which is 14.95% higher than the frozen ResNet50 (77.42%).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reduction: The Custom CNN reached a lower test loss of 0.3725, compared to 0.5277 for ResNet50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rPr dirty="0"/>
              <a:t>Findings: </a:t>
            </a:r>
            <a:endParaRPr lang="en-US" dirty="0"/>
          </a:p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rPr lang="en-US" dirty="0"/>
              <a:t>Pre-class Performance</a:t>
            </a:r>
            <a:r>
              <a:rPr dirty="0"/>
              <a:t>(Custom CNN)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76809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Common 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Northern Leaf Blight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 err="1"/>
                        <a:t>Cercospora</a:t>
                      </a:r>
                      <a:r>
                        <a:rPr dirty="0"/>
                        <a:t> Leaf Spot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0.74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7680960" cy="2820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 achieved 92.37% test accuracy on 629 unseen images.</a:t>
            </a:r>
          </a:p>
          <a:p>
            <a:pPr marL="285750" indent="-28575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and Common Rust classes were classified with near-perfect performance.</a:t>
            </a:r>
          </a:p>
          <a:p>
            <a:pPr marL="285750" indent="-28575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Northern Leaf Blight showed strong recall (0.94) with moderate precision (0.83).</a:t>
            </a:r>
          </a:p>
          <a:p>
            <a:pPr marL="285750" indent="-28575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  <a:latin typeface="Calibri"/>
              </a:defRPr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Cercospora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Leaf Spot was the most challenging class (recall 0.65).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confirm that deep learning can classify maize foliar diseases from digital images.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rPr dirty="0"/>
              <a:t>Findings: Confusion Matrix (Test 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768096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\ Predicted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NLB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Rust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Northern Leaf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Common Rust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Cercospora Leaf Spot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175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48097B-2D80-A983-7505-5DB761208949}"/>
              </a:ext>
            </a:extLst>
          </p:cNvPr>
          <p:cNvSpPr txBox="1"/>
          <p:nvPr/>
        </p:nvSpPr>
        <p:spPr>
          <a:xfrm>
            <a:off x="731520" y="4123944"/>
            <a:ext cx="76809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perfect at identifying Healthy leaves. It got 175 correct and 0 wrong.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very strong with Common Rust, getting 188 correct.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it did well with Northern Leaf Blight, getting 162 correct.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Cercospora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Leaf Spot was the hardest class The model only got 56 CLS images right. It mistakenly called 22 CLS images 'Northern Leaf Blight', and it called 8 CLS images 'Rust'.</a:t>
            </a:r>
            <a:endParaRPr lang="en-T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9875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align with prior plant disease studies using deep learning on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simpler Custom CNN exceeded a frozen ResNet50, suggesting domain-specific architectures can be effective at this dataset scale.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performance on Healthy and Common Rust supports reliable detection of clear symptom patterns.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recall 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Leaf Spot indicates need for additional training samples and augmentation.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accuracy (92.37%) is competitive, though field validation on Tanzanian farm images remains necessary.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2440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images originate from controlled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conditions, not Tanzanian field environments.</a:t>
            </a:r>
          </a:p>
          <a:p>
            <a:pPr marL="342900" indent="-34290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resolution of 128 x 128 pixels may reduce fine lesion detail.</a:t>
            </a:r>
          </a:p>
          <a:p>
            <a:pPr marL="342900" indent="-34290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Cercospora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Leaf Spot classification requires further improvement.</a:t>
            </a:r>
          </a:p>
          <a:p>
            <a:pPr marL="342900" indent="-34290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under varied lighting, backgrounds and camera quality has not yet been validated in the field.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rPr lang="en-US" dirty="0"/>
              <a:t>Recommendation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F2E46E-810F-D741-6D12-0DEA6F69D5C2}"/>
              </a:ext>
            </a:extLst>
          </p:cNvPr>
          <p:cNvSpPr txBox="1"/>
          <p:nvPr/>
        </p:nvSpPr>
        <p:spPr>
          <a:xfrm>
            <a:off x="457200" y="1426464"/>
            <a:ext cx="8458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dataset size.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real field images from Tanzanian farms.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prediction confidence.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more maize diseases.</a:t>
            </a:r>
            <a:endParaRPr lang="en-T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defRPr sz="2000">
                <a:solidFill>
                  <a:srgbClr val="505050"/>
                </a:solidFill>
                <a:latin typeface="Calibri"/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1082</Words>
  <Application>Microsoft Office PowerPoint</Application>
  <PresentationFormat>On-screen Show (4:3)</PresentationFormat>
  <Paragraphs>179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MAFTAHA</dc:creator>
  <cp:keywords/>
  <dc:description>generated using python-pptx</dc:description>
  <cp:lastModifiedBy>moshi kassim</cp:lastModifiedBy>
  <cp:revision>10</cp:revision>
  <dcterms:created xsi:type="dcterms:W3CDTF">2013-01-27T09:14:16Z</dcterms:created>
  <dcterms:modified xsi:type="dcterms:W3CDTF">2026-07-17T05:02:58Z</dcterms:modified>
  <cp:category/>
</cp:coreProperties>
</file>